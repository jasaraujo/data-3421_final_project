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23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6" r:id="rId17"/>
    <p:sldId id="277" r:id="rId18"/>
    <p:sldId id="272" r:id="rId19"/>
    <p:sldId id="273" r:id="rId20"/>
    <p:sldId id="274" r:id="rId21"/>
    <p:sldId id="275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6FC675-8ED5-8953-BD0A-66C57DD47B0B}" v="231" dt="2026-04-22T21:08:41.367"/>
    <p1510:client id="{5DE9E7EB-E740-1196-68A1-E158BB0E9978}" v="32" dt="2026-04-23T20:37:19.020"/>
    <p1510:client id="{677A9BE3-C641-8987-676A-EB85F8105489}" v="16" dt="2026-04-23T01:56:07.173"/>
    <p1510:client id="{67A7D08E-F118-6AD7-5722-DF9B03E1B51F}" v="569" dt="2026-04-23T07:57:52.467"/>
    <p1510:client id="{69443160-BB31-8309-CA10-FBA191CB5629}" v="316" dt="2026-04-23T04:14:32.666"/>
    <p1510:client id="{8509D162-6A61-EB54-1A59-EE0C5A8C7511}" v="82" dt="2026-04-22T18:04:14.222"/>
    <p1510:client id="{D69ED349-8024-20FE-9FB1-84D7B795B852}" v="270" dt="2026-04-22T04:35:42.973"/>
    <p1510:client id="{EFAB4656-5FED-E7F8-1874-5E1C0E062CB7}" v="3" dt="2026-04-23T01:54:19.3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image" Target="../media/image18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988354-6289-40F0-BA28-CF532956089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A4E7727D-0B45-40B6-9A85-BA535C1FF2CE}">
      <dgm:prSet/>
      <dgm:spPr/>
      <dgm:t>
        <a:bodyPr/>
        <a:lstStyle/>
        <a:p>
          <a:pPr>
            <a:defRPr cap="all"/>
          </a:pPr>
          <a:r>
            <a:rPr lang="en-US"/>
            <a:t>End of presentation </a:t>
          </a:r>
        </a:p>
      </dgm:t>
    </dgm:pt>
    <dgm:pt modelId="{F0A3E174-B013-4CD2-9CA0-0CFD875573F1}" type="parTrans" cxnId="{3785BD47-44A2-4471-903F-7646590008DC}">
      <dgm:prSet/>
      <dgm:spPr/>
      <dgm:t>
        <a:bodyPr/>
        <a:lstStyle/>
        <a:p>
          <a:endParaRPr lang="en-US"/>
        </a:p>
      </dgm:t>
    </dgm:pt>
    <dgm:pt modelId="{664B8C4D-8900-46B3-8144-CA5FBE7D9335}" type="sibTrans" cxnId="{3785BD47-44A2-4471-903F-7646590008DC}">
      <dgm:prSet/>
      <dgm:spPr/>
      <dgm:t>
        <a:bodyPr/>
        <a:lstStyle/>
        <a:p>
          <a:endParaRPr lang="en-US"/>
        </a:p>
      </dgm:t>
    </dgm:pt>
    <dgm:pt modelId="{834C8184-48FE-43D4-BCF7-02B0B84F73C3}">
      <dgm:prSet/>
      <dgm:spPr/>
      <dgm:t>
        <a:bodyPr/>
        <a:lstStyle/>
        <a:p>
          <a:pPr>
            <a:defRPr cap="all"/>
          </a:pPr>
          <a:r>
            <a:rPr lang="en-US"/>
            <a:t>Thank you</a:t>
          </a:r>
        </a:p>
      </dgm:t>
    </dgm:pt>
    <dgm:pt modelId="{78E75547-6B98-42C0-B2FB-92A971764049}" type="parTrans" cxnId="{BA468D65-5AE7-45D9-954C-A99BEAD3196A}">
      <dgm:prSet/>
      <dgm:spPr/>
      <dgm:t>
        <a:bodyPr/>
        <a:lstStyle/>
        <a:p>
          <a:endParaRPr lang="en-US"/>
        </a:p>
      </dgm:t>
    </dgm:pt>
    <dgm:pt modelId="{9171712C-5FF3-47A7-8A45-B92F2CF2E877}" type="sibTrans" cxnId="{BA468D65-5AE7-45D9-954C-A99BEAD3196A}">
      <dgm:prSet/>
      <dgm:spPr/>
      <dgm:t>
        <a:bodyPr/>
        <a:lstStyle/>
        <a:p>
          <a:endParaRPr lang="en-US"/>
        </a:p>
      </dgm:t>
    </dgm:pt>
    <dgm:pt modelId="{3FA4FE15-5A24-46FF-81F9-40C938D9912D}" type="pres">
      <dgm:prSet presAssocID="{6C988354-6289-40F0-BA28-CF532956089C}" presName="root" presStyleCnt="0">
        <dgm:presLayoutVars>
          <dgm:dir/>
          <dgm:resizeHandles val="exact"/>
        </dgm:presLayoutVars>
      </dgm:prSet>
      <dgm:spPr/>
    </dgm:pt>
    <dgm:pt modelId="{C8AEB865-F27A-4127-9599-6ED2229BABB5}" type="pres">
      <dgm:prSet presAssocID="{A4E7727D-0B45-40B6-9A85-BA535C1FF2CE}" presName="compNode" presStyleCnt="0"/>
      <dgm:spPr/>
    </dgm:pt>
    <dgm:pt modelId="{24685FAE-BE02-45DE-9065-BEAF6DA73BAC}" type="pres">
      <dgm:prSet presAssocID="{A4E7727D-0B45-40B6-9A85-BA535C1FF2CE}" presName="iconBgRect" presStyleLbl="bgShp" presStyleIdx="0" presStyleCnt="2"/>
      <dgm:spPr/>
    </dgm:pt>
    <dgm:pt modelId="{82A2F537-551D-47C1-B7A1-13F7228A5EDB}" type="pres">
      <dgm:prSet presAssocID="{A4E7727D-0B45-40B6-9A85-BA535C1FF2CE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2FAC9981-C581-47EA-A576-4F06D1D7B14A}" type="pres">
      <dgm:prSet presAssocID="{A4E7727D-0B45-40B6-9A85-BA535C1FF2CE}" presName="spaceRect" presStyleCnt="0"/>
      <dgm:spPr/>
    </dgm:pt>
    <dgm:pt modelId="{9401B662-8D8B-405B-A701-CBE34880AF38}" type="pres">
      <dgm:prSet presAssocID="{A4E7727D-0B45-40B6-9A85-BA535C1FF2CE}" presName="textRect" presStyleLbl="revTx" presStyleIdx="0" presStyleCnt="2">
        <dgm:presLayoutVars>
          <dgm:chMax val="1"/>
          <dgm:chPref val="1"/>
        </dgm:presLayoutVars>
      </dgm:prSet>
      <dgm:spPr/>
    </dgm:pt>
    <dgm:pt modelId="{28BBC5FF-2540-4B9E-939B-A53CDB6FE58F}" type="pres">
      <dgm:prSet presAssocID="{664B8C4D-8900-46B3-8144-CA5FBE7D9335}" presName="sibTrans" presStyleCnt="0"/>
      <dgm:spPr/>
    </dgm:pt>
    <dgm:pt modelId="{F21C2DAD-3385-41AD-B0E0-7C76C035B020}" type="pres">
      <dgm:prSet presAssocID="{834C8184-48FE-43D4-BCF7-02B0B84F73C3}" presName="compNode" presStyleCnt="0"/>
      <dgm:spPr/>
    </dgm:pt>
    <dgm:pt modelId="{749B37BE-813A-499A-A61F-0EC66DB239E2}" type="pres">
      <dgm:prSet presAssocID="{834C8184-48FE-43D4-BCF7-02B0B84F73C3}" presName="iconBgRect" presStyleLbl="bgShp" presStyleIdx="1" presStyleCnt="2"/>
      <dgm:spPr/>
    </dgm:pt>
    <dgm:pt modelId="{3CA43CFD-5862-4B80-9337-F637699C0893}" type="pres">
      <dgm:prSet presAssocID="{834C8184-48FE-43D4-BCF7-02B0B84F73C3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362B2682-1873-44A2-9C53-50E99FF696ED}" type="pres">
      <dgm:prSet presAssocID="{834C8184-48FE-43D4-BCF7-02B0B84F73C3}" presName="spaceRect" presStyleCnt="0"/>
      <dgm:spPr/>
    </dgm:pt>
    <dgm:pt modelId="{C0ED13D1-905C-4A38-A919-FE1303CC4DE0}" type="pres">
      <dgm:prSet presAssocID="{834C8184-48FE-43D4-BCF7-02B0B84F73C3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CD06D40F-3489-4CDA-A942-6E055B524647}" type="presOf" srcId="{6C988354-6289-40F0-BA28-CF532956089C}" destId="{3FA4FE15-5A24-46FF-81F9-40C938D9912D}" srcOrd="0" destOrd="0" presId="urn:microsoft.com/office/officeart/2018/5/layout/IconCircleLabelList"/>
    <dgm:cxn modelId="{BA468D65-5AE7-45D9-954C-A99BEAD3196A}" srcId="{6C988354-6289-40F0-BA28-CF532956089C}" destId="{834C8184-48FE-43D4-BCF7-02B0B84F73C3}" srcOrd="1" destOrd="0" parTransId="{78E75547-6B98-42C0-B2FB-92A971764049}" sibTransId="{9171712C-5FF3-47A7-8A45-B92F2CF2E877}"/>
    <dgm:cxn modelId="{3785BD47-44A2-4471-903F-7646590008DC}" srcId="{6C988354-6289-40F0-BA28-CF532956089C}" destId="{A4E7727D-0B45-40B6-9A85-BA535C1FF2CE}" srcOrd="0" destOrd="0" parTransId="{F0A3E174-B013-4CD2-9CA0-0CFD875573F1}" sibTransId="{664B8C4D-8900-46B3-8144-CA5FBE7D9335}"/>
    <dgm:cxn modelId="{6FEEF6A2-58A3-43E9-9FC7-2CB34B74E804}" type="presOf" srcId="{A4E7727D-0B45-40B6-9A85-BA535C1FF2CE}" destId="{9401B662-8D8B-405B-A701-CBE34880AF38}" srcOrd="0" destOrd="0" presId="urn:microsoft.com/office/officeart/2018/5/layout/IconCircleLabelList"/>
    <dgm:cxn modelId="{899930EA-859A-41DC-B5C2-54E3DF0367C5}" type="presOf" srcId="{834C8184-48FE-43D4-BCF7-02B0B84F73C3}" destId="{C0ED13D1-905C-4A38-A919-FE1303CC4DE0}" srcOrd="0" destOrd="0" presId="urn:microsoft.com/office/officeart/2018/5/layout/IconCircleLabelList"/>
    <dgm:cxn modelId="{1CA150B7-3111-4605-BE6F-CB4B9890CC58}" type="presParOf" srcId="{3FA4FE15-5A24-46FF-81F9-40C938D9912D}" destId="{C8AEB865-F27A-4127-9599-6ED2229BABB5}" srcOrd="0" destOrd="0" presId="urn:microsoft.com/office/officeart/2018/5/layout/IconCircleLabelList"/>
    <dgm:cxn modelId="{82FF611B-7CC7-4EE3-B850-72D24D354A19}" type="presParOf" srcId="{C8AEB865-F27A-4127-9599-6ED2229BABB5}" destId="{24685FAE-BE02-45DE-9065-BEAF6DA73BAC}" srcOrd="0" destOrd="0" presId="urn:microsoft.com/office/officeart/2018/5/layout/IconCircleLabelList"/>
    <dgm:cxn modelId="{2D4028E2-5E74-47AB-9600-103D97DFAF68}" type="presParOf" srcId="{C8AEB865-F27A-4127-9599-6ED2229BABB5}" destId="{82A2F537-551D-47C1-B7A1-13F7228A5EDB}" srcOrd="1" destOrd="0" presId="urn:microsoft.com/office/officeart/2018/5/layout/IconCircleLabelList"/>
    <dgm:cxn modelId="{81BEC84E-AD43-4E2D-9B54-47DFD1094257}" type="presParOf" srcId="{C8AEB865-F27A-4127-9599-6ED2229BABB5}" destId="{2FAC9981-C581-47EA-A576-4F06D1D7B14A}" srcOrd="2" destOrd="0" presId="urn:microsoft.com/office/officeart/2018/5/layout/IconCircleLabelList"/>
    <dgm:cxn modelId="{5EC5AD59-2E10-44FE-BA09-FDEBB390B421}" type="presParOf" srcId="{C8AEB865-F27A-4127-9599-6ED2229BABB5}" destId="{9401B662-8D8B-405B-A701-CBE34880AF38}" srcOrd="3" destOrd="0" presId="urn:microsoft.com/office/officeart/2018/5/layout/IconCircleLabelList"/>
    <dgm:cxn modelId="{E129A5F0-6514-4C87-895C-01D211F7EFEB}" type="presParOf" srcId="{3FA4FE15-5A24-46FF-81F9-40C938D9912D}" destId="{28BBC5FF-2540-4B9E-939B-A53CDB6FE58F}" srcOrd="1" destOrd="0" presId="urn:microsoft.com/office/officeart/2018/5/layout/IconCircleLabelList"/>
    <dgm:cxn modelId="{341E45E4-5DBA-4421-8DE8-7F3929BDB5B0}" type="presParOf" srcId="{3FA4FE15-5A24-46FF-81F9-40C938D9912D}" destId="{F21C2DAD-3385-41AD-B0E0-7C76C035B020}" srcOrd="2" destOrd="0" presId="urn:microsoft.com/office/officeart/2018/5/layout/IconCircleLabelList"/>
    <dgm:cxn modelId="{69D6719C-F52A-4200-A780-2EF37DB23999}" type="presParOf" srcId="{F21C2DAD-3385-41AD-B0E0-7C76C035B020}" destId="{749B37BE-813A-499A-A61F-0EC66DB239E2}" srcOrd="0" destOrd="0" presId="urn:microsoft.com/office/officeart/2018/5/layout/IconCircleLabelList"/>
    <dgm:cxn modelId="{D1E47AFD-ADC9-44A3-B16B-B2EC88F42E5A}" type="presParOf" srcId="{F21C2DAD-3385-41AD-B0E0-7C76C035B020}" destId="{3CA43CFD-5862-4B80-9337-F637699C0893}" srcOrd="1" destOrd="0" presId="urn:microsoft.com/office/officeart/2018/5/layout/IconCircleLabelList"/>
    <dgm:cxn modelId="{AEE05B1D-4C43-4009-9908-40D1CF07009A}" type="presParOf" srcId="{F21C2DAD-3385-41AD-B0E0-7C76C035B020}" destId="{362B2682-1873-44A2-9C53-50E99FF696ED}" srcOrd="2" destOrd="0" presId="urn:microsoft.com/office/officeart/2018/5/layout/IconCircleLabelList"/>
    <dgm:cxn modelId="{7E4CFD8C-8B08-4690-8C63-FE89DEE00654}" type="presParOf" srcId="{F21C2DAD-3385-41AD-B0E0-7C76C035B020}" destId="{C0ED13D1-905C-4A38-A919-FE1303CC4DE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685FAE-BE02-45DE-9065-BEAF6DA73BAC}">
      <dsp:nvSpPr>
        <dsp:cNvPr id="0" name=""/>
        <dsp:cNvSpPr/>
      </dsp:nvSpPr>
      <dsp:spPr>
        <a:xfrm>
          <a:off x="2250914" y="296402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A2F537-551D-47C1-B7A1-13F7228A5EDB}">
      <dsp:nvSpPr>
        <dsp:cNvPr id="0" name=""/>
        <dsp:cNvSpPr/>
      </dsp:nvSpPr>
      <dsp:spPr>
        <a:xfrm>
          <a:off x="2718914" y="764402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01B662-8D8B-405B-A701-CBE34880AF38}">
      <dsp:nvSpPr>
        <dsp:cNvPr id="0" name=""/>
        <dsp:cNvSpPr/>
      </dsp:nvSpPr>
      <dsp:spPr>
        <a:xfrm>
          <a:off x="1548914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000" kern="1200"/>
            <a:t>End of presentation </a:t>
          </a:r>
        </a:p>
      </dsp:txBody>
      <dsp:txXfrm>
        <a:off x="1548914" y="3176402"/>
        <a:ext cx="3600000" cy="720000"/>
      </dsp:txXfrm>
    </dsp:sp>
    <dsp:sp modelId="{749B37BE-813A-499A-A61F-0EC66DB239E2}">
      <dsp:nvSpPr>
        <dsp:cNvPr id="0" name=""/>
        <dsp:cNvSpPr/>
      </dsp:nvSpPr>
      <dsp:spPr>
        <a:xfrm>
          <a:off x="6480914" y="296402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A43CFD-5862-4B80-9337-F637699C0893}">
      <dsp:nvSpPr>
        <dsp:cNvPr id="0" name=""/>
        <dsp:cNvSpPr/>
      </dsp:nvSpPr>
      <dsp:spPr>
        <a:xfrm>
          <a:off x="6948914" y="764402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ED13D1-905C-4A38-A919-FE1303CC4DE0}">
      <dsp:nvSpPr>
        <dsp:cNvPr id="0" name=""/>
        <dsp:cNvSpPr/>
      </dsp:nvSpPr>
      <dsp:spPr>
        <a:xfrm>
          <a:off x="5778914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000" kern="1200"/>
            <a:t>Thank you</a:t>
          </a:r>
        </a:p>
      </dsp:txBody>
      <dsp:txXfrm>
        <a:off x="5778914" y="3176402"/>
        <a:ext cx="36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49B0F1-87F3-4529-812A-C71988A256CC}" type="datetimeFigureOut"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0347F2-F838-490F-B67F-7EEF72E0F98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236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5D0B7-EFCB-1F64-5A52-99A8A84D5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394E5E-4867-8C34-49C4-29A8C04755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6EA742-B343-97CF-7C85-7D3C13BEAA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CCBAC6-FC7B-0C40-7E6F-07E8C6FEB0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0322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33640-B296-2CC1-0594-28C0207B8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C0971E-FEB1-2767-9E03-82E3847118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CAAB1D-D176-B571-00AA-6FBAE3FAD6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F13EE6-AC3F-1ED9-8A8F-2F27DF9016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550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858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254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840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251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257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162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274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334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280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949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960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1167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366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68033" y="2834014"/>
            <a:ext cx="676656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6324F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Credit Card Fraud Detection</a:t>
            </a:r>
            <a:endParaRPr lang="en-US" sz="3600">
              <a:latin typeface="Aptos Display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0" y="3628581"/>
            <a:ext cx="6614995" cy="115448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400">
                <a:solidFill>
                  <a:srgbClr val="334155"/>
                </a:solidFill>
              </a:rPr>
              <a:t>Goal: Detect fraudulent transactions in a highly imbalanced dataset using classification models.</a:t>
            </a:r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0" y="3530878"/>
            <a:ext cx="5852160" cy="0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</p:sp>
      <p:pic>
        <p:nvPicPr>
          <p:cNvPr id="8" name="Picture 7" descr="A close-up of credit cards&#10;&#10;AI-generated content may be incorrect.">
            <a:extLst>
              <a:ext uri="{FF2B5EF4-FFF2-40B4-BE49-F238E27FC236}">
                <a16:creationId xmlns:a16="http://schemas.microsoft.com/office/drawing/2014/main" id="{8B644AF3-A616-72DA-639C-BC4DA07F596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9000"/>
          </a:blip>
          <a:stretch>
            <a:fillRect/>
          </a:stretch>
        </p:blipFill>
        <p:spPr>
          <a:xfrm>
            <a:off x="-4175" y="4829"/>
            <a:ext cx="3849664" cy="6848343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553984" y="4784924"/>
            <a:ext cx="2743200" cy="93235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400">
                <a:solidFill>
                  <a:srgbClr val="FFFFFF"/>
                </a:solidFill>
              </a:rPr>
              <a:t>Sushil Dhital</a:t>
            </a:r>
            <a:endParaRPr lang="en-US" sz="2400"/>
          </a:p>
          <a:p>
            <a:pPr algn="ctr"/>
            <a:r>
              <a:rPr lang="en-US" sz="2400">
                <a:solidFill>
                  <a:srgbClr val="FFFFFF"/>
                </a:solidFill>
              </a:rPr>
              <a:t>Jason Araujo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76DB13-78BD-D323-55E4-FB6DBCF929CE}"/>
              </a:ext>
            </a:extLst>
          </p:cNvPr>
          <p:cNvSpPr txBox="1"/>
          <p:nvPr/>
        </p:nvSpPr>
        <p:spPr>
          <a:xfrm>
            <a:off x="403654" y="5655299"/>
            <a:ext cx="303926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 b="1">
                <a:solidFill>
                  <a:schemeClr val="bg1">
                    <a:lumMod val="95000"/>
                  </a:schemeClr>
                </a:solidFill>
                <a:latin typeface="Aptos Display"/>
              </a:rPr>
              <a:t>Group 19</a:t>
            </a:r>
            <a:endParaRPr lang="en-US" sz="5400">
              <a:solidFill>
                <a:schemeClr val="bg1">
                  <a:lumMod val="95000"/>
                </a:schemeClr>
              </a:solidFill>
              <a:latin typeface="Aptos Display"/>
            </a:endParaRPr>
          </a:p>
          <a:p>
            <a:pPr algn="l"/>
            <a:endParaRPr lang="en-US"/>
          </a:p>
        </p:txBody>
      </p:sp>
      <p:pic>
        <p:nvPicPr>
          <p:cNvPr id="3" name="Picture 2" descr="A cartoon character holding a baseball bat&#10;&#10;AI-generated content may be incorrect.">
            <a:extLst>
              <a:ext uri="{FF2B5EF4-FFF2-40B4-BE49-F238E27FC236}">
                <a16:creationId xmlns:a16="http://schemas.microsoft.com/office/drawing/2014/main" id="{C5C27FAB-9623-53E9-C3C8-E329E128E7A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000"/>
          </a:blip>
          <a:stretch>
            <a:fillRect/>
          </a:stretch>
        </p:blipFill>
        <p:spPr>
          <a:xfrm>
            <a:off x="10329863" y="4995863"/>
            <a:ext cx="1857375" cy="18573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7223760" cy="2194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600" b="1">
                <a:solidFill>
                  <a:srgbClr val="FFFFFF"/>
                </a:solidFill>
                <a:latin typeface="Aptos Display"/>
              </a:rPr>
              <a:t>Table of Contents</a:t>
            </a:r>
          </a:p>
        </p:txBody>
      </p:sp>
      <p:sp>
        <p:nvSpPr>
          <p:cNvPr id="7" name="Shape 5"/>
          <p:cNvSpPr/>
          <p:nvPr/>
        </p:nvSpPr>
        <p:spPr>
          <a:xfrm>
            <a:off x="522753" y="1347801"/>
            <a:ext cx="11165700" cy="758868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8181" y="1341414"/>
            <a:ext cx="2086834" cy="762499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3086" y="1362372"/>
            <a:ext cx="2087880" cy="7491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1. Problem &amp; Motivation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3045912" y="1560618"/>
            <a:ext cx="8419995" cy="32392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000" b="1">
                <a:solidFill>
                  <a:srgbClr val="334155"/>
                </a:solidFill>
              </a:rPr>
              <a:t>The problem we aim to solve and why fraud detection matters</a:t>
            </a:r>
          </a:p>
        </p:txBody>
      </p:sp>
      <p:sp>
        <p:nvSpPr>
          <p:cNvPr id="11" name="Shape 9"/>
          <p:cNvSpPr/>
          <p:nvPr/>
        </p:nvSpPr>
        <p:spPr>
          <a:xfrm>
            <a:off x="512315" y="2589757"/>
            <a:ext cx="11165700" cy="758868"/>
          </a:xfrm>
          <a:prstGeom prst="roundRect">
            <a:avLst>
              <a:gd name="adj" fmla="val 5333"/>
            </a:avLst>
          </a:prstGeom>
          <a:solidFill>
            <a:srgbClr val="F8FB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8181" y="2593807"/>
            <a:ext cx="2065959" cy="752061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3526" y="2593891"/>
            <a:ext cx="2077441" cy="74913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2. Data Preprocessing &amp; EDA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3045913" y="2802574"/>
            <a:ext cx="8419995" cy="32392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000" b="1">
                <a:solidFill>
                  <a:srgbClr val="334155"/>
                </a:solidFill>
              </a:rPr>
              <a:t>Dataset structure, cleaning, class imbalance, and analysis</a:t>
            </a:r>
            <a:endParaRPr lang="en-US" sz="2000"/>
          </a:p>
        </p:txBody>
      </p:sp>
      <p:sp>
        <p:nvSpPr>
          <p:cNvPr id="19" name="Shape 17"/>
          <p:cNvSpPr/>
          <p:nvPr/>
        </p:nvSpPr>
        <p:spPr>
          <a:xfrm>
            <a:off x="522753" y="3873257"/>
            <a:ext cx="11165700" cy="758868"/>
          </a:xfrm>
          <a:prstGeom prst="roundRect">
            <a:avLst>
              <a:gd name="adj" fmla="val 5333"/>
            </a:avLst>
          </a:prstGeom>
          <a:solidFill>
            <a:srgbClr val="F8FB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304" y="3877308"/>
            <a:ext cx="2107711" cy="762499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3526" y="3877391"/>
            <a:ext cx="2119194" cy="75957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3. Modeling &amp; Evaluation</a:t>
            </a:r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3045912" y="4096512"/>
            <a:ext cx="8419995" cy="3239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334155"/>
                </a:solidFill>
              </a:rPr>
              <a:t>Three classifiers and metrics for imbalanced data</a:t>
            </a:r>
            <a:endParaRPr lang="en-US" sz="2000"/>
          </a:p>
        </p:txBody>
      </p:sp>
      <p:sp>
        <p:nvSpPr>
          <p:cNvPr id="23" name="Shape 21"/>
          <p:cNvSpPr/>
          <p:nvPr/>
        </p:nvSpPr>
        <p:spPr>
          <a:xfrm>
            <a:off x="522753" y="5188281"/>
            <a:ext cx="11165700" cy="758868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8619" y="5202770"/>
            <a:ext cx="2107711" cy="752061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3964" y="5192415"/>
            <a:ext cx="2108755" cy="74913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4. Interpretations &amp; </a:t>
            </a:r>
            <a:r>
              <a:rPr lang="en-US" sz="1600" b="1" err="1">
                <a:solidFill>
                  <a:srgbClr val="FFFFFF"/>
                </a:solidFill>
              </a:rPr>
              <a:t>Concl</a:t>
            </a:r>
            <a:r>
              <a:rPr lang="en-US" sz="1600" b="1">
                <a:solidFill>
                  <a:srgbClr val="FFFFFF"/>
                </a:solidFill>
              </a:rPr>
              <a:t>usion</a:t>
            </a:r>
          </a:p>
        </p:txBody>
      </p:sp>
      <p:sp>
        <p:nvSpPr>
          <p:cNvPr id="26" name="Text 24"/>
          <p:cNvSpPr/>
          <p:nvPr/>
        </p:nvSpPr>
        <p:spPr>
          <a:xfrm>
            <a:off x="3045912" y="5421974"/>
            <a:ext cx="8419995" cy="3239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334155"/>
                </a:solidFill>
              </a:rPr>
              <a:t>Best model, trade-offs, limitations, and next steps</a:t>
            </a:r>
            <a:endParaRPr lang="en-US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5866"/>
            <a:ext cx="8810389" cy="2820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600" b="1">
                <a:solidFill>
                  <a:srgbClr val="FFFFFF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Problem &amp; Motivation : Problem Definition &amp; Motivation</a:t>
            </a:r>
            <a:endParaRPr lang="en-US" sz="2600">
              <a:latin typeface="Aptos Display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6510528"/>
            <a:ext cx="3840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</a:rPr>
              <a:t>DATA 3421 Final Project • Group 19</a:t>
            </a:r>
            <a:endParaRPr lang="en-US" sz="1000"/>
          </a:p>
        </p:txBody>
      </p:sp>
      <p:sp>
        <p:nvSpPr>
          <p:cNvPr id="6" name="Text 4"/>
          <p:cNvSpPr/>
          <p:nvPr/>
        </p:nvSpPr>
        <p:spPr>
          <a:xfrm>
            <a:off x="594360" y="1143000"/>
            <a:ext cx="5669280" cy="4297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2200">
                <a:solidFill>
                  <a:srgbClr val="334155"/>
                </a:solidFill>
                <a:latin typeface="Aptos"/>
                <a:ea typeface="Aptos" pitchFamily="34" charset="-122"/>
                <a:cs typeface="Aptos" pitchFamily="34" charset="-120"/>
              </a:rPr>
              <a:t>Credit card fraud creates financial loss for banks and customers.
</a:t>
            </a:r>
            <a:endParaRPr lang="en-US" sz="2200">
              <a:latin typeface="Aptos"/>
            </a:endParaRPr>
          </a:p>
          <a:p>
            <a:pPr marL="177800" indent="-177800">
              <a:buSzPct val="100000"/>
              <a:buChar char="•"/>
            </a:pPr>
            <a:r>
              <a:rPr lang="en-US" sz="2200">
                <a:solidFill>
                  <a:srgbClr val="334155"/>
                </a:solidFill>
                <a:latin typeface="Aptos"/>
                <a:ea typeface="Aptos" pitchFamily="34" charset="-122"/>
                <a:cs typeface="Aptos" pitchFamily="34" charset="-120"/>
              </a:rPr>
              <a:t>The task is to classify each transaction as normal (0) or fraud (1).
</a:t>
            </a:r>
            <a:endParaRPr lang="en-US" sz="2200">
              <a:latin typeface="Aptos"/>
            </a:endParaRPr>
          </a:p>
          <a:p>
            <a:pPr marL="177800" indent="-177800">
              <a:buSzPct val="100000"/>
              <a:buChar char="•"/>
            </a:pPr>
            <a:r>
              <a:rPr lang="en-US" sz="2200">
                <a:solidFill>
                  <a:srgbClr val="334155"/>
                </a:solidFill>
                <a:latin typeface="Aptos"/>
                <a:ea typeface="Aptos" pitchFamily="34" charset="-122"/>
                <a:cs typeface="Aptos" pitchFamily="34" charset="-120"/>
              </a:rPr>
              <a:t>Fraud detection is difficult because fraudulent cases are extremely rare compared with normal transactions.
</a:t>
            </a:r>
            <a:endParaRPr lang="en-US" sz="2200">
              <a:latin typeface="Aptos"/>
            </a:endParaRPr>
          </a:p>
          <a:p>
            <a:pPr marL="177800" indent="-177800">
              <a:buSzPct val="100000"/>
              <a:buChar char="•"/>
            </a:pPr>
            <a:r>
              <a:rPr lang="en-US" sz="220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useful model must catch fraud without flagging too many normal transactions as suspicious.</a:t>
            </a:r>
            <a:endParaRPr lang="en-US" sz="2200"/>
          </a:p>
        </p:txBody>
      </p:sp>
      <p:sp>
        <p:nvSpPr>
          <p:cNvPr id="11" name="Shape 9"/>
          <p:cNvSpPr/>
          <p:nvPr/>
        </p:nvSpPr>
        <p:spPr>
          <a:xfrm>
            <a:off x="6537960" y="1051560"/>
            <a:ext cx="4937760" cy="5029200"/>
          </a:xfrm>
          <a:prstGeom prst="roundRect">
            <a:avLst>
              <a:gd name="adj" fmla="val 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1413772"/>
            <a:ext cx="4069080" cy="20143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400" b="1">
                <a:solidFill>
                  <a:srgbClr val="2A9D8F"/>
                </a:solidFill>
              </a:rPr>
              <a:t>Research Question:</a:t>
            </a:r>
          </a:p>
          <a:p>
            <a:pPr marL="0" indent="0">
              <a:buNone/>
            </a:pPr>
            <a:r>
              <a:rPr lang="en-US" sz="2200" b="1">
                <a:solidFill>
                  <a:srgbClr val="334155"/>
                </a:solidFill>
              </a:rPr>
              <a:t>Which classification model performs best for detecting fraudulent credit card transactions in a highly imbalanced dataset?</a:t>
            </a:r>
            <a:endParaRPr lang="en-US" sz="2200"/>
          </a:p>
        </p:txBody>
      </p:sp>
      <p:sp>
        <p:nvSpPr>
          <p:cNvPr id="15" name="Text 13"/>
          <p:cNvSpPr/>
          <p:nvPr/>
        </p:nvSpPr>
        <p:spPr>
          <a:xfrm>
            <a:off x="6858000" y="4299350"/>
            <a:ext cx="3931920" cy="113861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400" b="1">
                <a:solidFill>
                  <a:srgbClr val="2A9D8F"/>
                </a:solidFill>
              </a:rPr>
              <a:t>Target outcome:</a:t>
            </a:r>
            <a:endParaRPr lang="en-US" sz="240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1900">
                <a:solidFill>
                  <a:srgbClr val="334155"/>
                </a:solidFill>
              </a:rPr>
              <a:t>Select the model that provides the best balance between detecting fraud and minimizing false alarms.</a:t>
            </a:r>
            <a:endParaRPr lang="en-US"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7181"/>
            <a:ext cx="7223760" cy="2194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600" b="1">
                <a:solidFill>
                  <a:srgbClr val="FFFFFF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Data Preprocessing &amp; EDA : Dataset Overview</a:t>
            </a:r>
            <a:endParaRPr lang="en-US" sz="2600">
              <a:latin typeface="Aptos Display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6510528"/>
            <a:ext cx="3840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</a:rPr>
              <a:t>DATA 3421 Final Project • Group 19</a:t>
            </a:r>
            <a:endParaRPr lang="en-US" sz="100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3840480" cy="544068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0725" y="1220453"/>
            <a:ext cx="3836728" cy="49327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900" b="1">
                <a:solidFill>
                  <a:srgbClr val="16324F"/>
                </a:solidFill>
              </a:rPr>
              <a:t>Source:</a:t>
            </a:r>
            <a:endParaRPr lang="en-US" sz="1900">
              <a:solidFill>
                <a:srgbClr val="000000"/>
              </a:solidFill>
            </a:endParaRPr>
          </a:p>
          <a:p>
            <a:r>
              <a:rPr lang="en-US" sz="1900">
                <a:solidFill>
                  <a:srgbClr val="334155"/>
                </a:solidFill>
              </a:rPr>
              <a:t>Kaggle's "Credit Card Fraud Detection" dataset (European cardholders).</a:t>
            </a:r>
            <a:endParaRPr lang="en-US" sz="1900">
              <a:solidFill>
                <a:srgbClr val="000000"/>
              </a:solidFill>
            </a:endParaRPr>
          </a:p>
          <a:p>
            <a:endParaRPr lang="en-US" sz="1900">
              <a:solidFill>
                <a:srgbClr val="334155"/>
              </a:solidFill>
            </a:endParaRPr>
          </a:p>
          <a:p>
            <a:endParaRPr lang="en-US" sz="1900">
              <a:solidFill>
                <a:srgbClr val="334155"/>
              </a:solidFill>
            </a:endParaRPr>
          </a:p>
          <a:p>
            <a:r>
              <a:rPr lang="en-US" sz="1900" b="1">
                <a:solidFill>
                  <a:srgbClr val="16324F"/>
                </a:solidFill>
              </a:rPr>
              <a:t>Variables:</a:t>
            </a:r>
          </a:p>
          <a:p>
            <a:pPr marL="177800" indent="-177800">
              <a:buFont typeface="Arial"/>
              <a:buChar char="•"/>
            </a:pPr>
            <a:r>
              <a:rPr lang="en-US">
                <a:solidFill>
                  <a:srgbClr val="334155"/>
                </a:solidFill>
              </a:rPr>
              <a:t>31 columns total</a:t>
            </a:r>
            <a:br>
              <a:rPr lang="en-US" dirty="0"/>
            </a:br>
            <a:endParaRPr lang="en-US">
              <a:solidFill>
                <a:srgbClr val="000000"/>
              </a:solidFill>
            </a:endParaRPr>
          </a:p>
          <a:p>
            <a:pPr marL="635000" lvl="1" indent="-177800">
              <a:buFont typeface="Courier New"/>
              <a:buChar char="o"/>
            </a:pPr>
            <a:r>
              <a:rPr lang="en-US">
                <a:solidFill>
                  <a:srgbClr val="334155"/>
                </a:solidFill>
              </a:rPr>
              <a:t>V1–V28 are anonymized PCA-transformed features</a:t>
            </a:r>
            <a:br>
              <a:rPr lang="en-US" dirty="0"/>
            </a:br>
            <a:endParaRPr lang="en-US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 marL="635000" lvl="1" indent="-177800">
              <a:buFont typeface="Courier New"/>
              <a:buChar char="o"/>
            </a:pPr>
            <a:r>
              <a:rPr lang="en-US">
                <a:solidFill>
                  <a:srgbClr val="334155"/>
                </a:solidFill>
              </a:rPr>
              <a:t>Time and Amount are original numeric variables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solidFill>
                <a:srgbClr val="334155"/>
              </a:solidFill>
            </a:endParaRPr>
          </a:p>
          <a:p>
            <a:pPr marL="635000" lvl="1" indent="-177800">
              <a:buFont typeface="Courier New"/>
              <a:buChar char="o"/>
            </a:pPr>
            <a:r>
              <a:rPr lang="en-US">
                <a:solidFill>
                  <a:srgbClr val="334155"/>
                </a:solidFill>
              </a:rPr>
              <a:t>Class (Target)</a:t>
            </a:r>
            <a:endParaRPr lang="en-US">
              <a:solidFill>
                <a:srgbClr val="334155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754880" y="960120"/>
            <a:ext cx="6903720" cy="5440680"/>
          </a:xfrm>
          <a:prstGeom prst="roundRect">
            <a:avLst>
              <a:gd name="adj" fmla="val 67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4626293"/>
              </p:ext>
            </p:extLst>
          </p:nvPr>
        </p:nvGraphicFramePr>
        <p:xfrm>
          <a:off x="4999972" y="1325671"/>
          <a:ext cx="6433384" cy="4655988"/>
        </p:xfrm>
        <a:graphic>
          <a:graphicData uri="http://schemas.openxmlformats.org/drawingml/2006/table">
            <a:tbl>
              <a:tblPr/>
              <a:tblGrid>
                <a:gridCol w="38804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7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16324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Observation</a:t>
                      </a:r>
                      <a:endParaRPr lang="en-US" sz="16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16324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Value</a:t>
                      </a:r>
                      <a:endParaRPr lang="en-US" sz="16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Original rows</a:t>
                      </a:r>
                      <a:endParaRPr lang="en-US" sz="16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284,807</a:t>
                      </a:r>
                      <a:endParaRPr lang="en-US" sz="16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Columns</a:t>
                      </a:r>
                      <a:endParaRPr lang="en-US" sz="16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31</a:t>
                      </a:r>
                      <a:endParaRPr lang="en-US" sz="16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Missing values</a:t>
                      </a:r>
                      <a:endParaRPr lang="en-US" sz="16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6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7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Duplicate rows</a:t>
                      </a:r>
                      <a:endParaRPr lang="en-US" sz="16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1,081</a:t>
                      </a:r>
                      <a:endParaRPr lang="en-US" sz="16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7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Rows after cleaning</a:t>
                      </a:r>
                      <a:endParaRPr lang="en-US" sz="16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283,726</a:t>
                      </a:r>
                      <a:endParaRPr lang="en-US" sz="16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7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Normal transactions</a:t>
                      </a:r>
                      <a:endParaRPr lang="en-US" sz="16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283,253</a:t>
                      </a:r>
                      <a:endParaRPr lang="en-US" sz="16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7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Fraud transactions</a:t>
                      </a:r>
                      <a:endParaRPr lang="en-US" sz="16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473</a:t>
                      </a:r>
                      <a:endParaRPr lang="en-US" sz="16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7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Fraud rate after cleaning</a:t>
                      </a:r>
                      <a:endParaRPr lang="en-US" sz="16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0.16671%</a:t>
                      </a:r>
                      <a:endParaRPr lang="en-US" sz="16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9810"/>
            <a:ext cx="8852143" cy="1046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600" b="1">
                <a:solidFill>
                  <a:srgbClr val="FFFFFF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Data Preprocessing &amp; EDA : Data Cleaning &amp; Preprocessing</a:t>
            </a:r>
            <a:endParaRPr lang="en-US" sz="2600">
              <a:latin typeface="Aptos Display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6510528"/>
            <a:ext cx="3840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</a:rPr>
              <a:t>DATA 3421 Final Project • Group 19</a:t>
            </a:r>
            <a:endParaRPr lang="en-US" sz="1000"/>
          </a:p>
        </p:txBody>
      </p:sp>
      <p:sp>
        <p:nvSpPr>
          <p:cNvPr id="6" name="Shape 4"/>
          <p:cNvSpPr/>
          <p:nvPr/>
        </p:nvSpPr>
        <p:spPr>
          <a:xfrm>
            <a:off x="777240" y="1024128"/>
            <a:ext cx="10561320" cy="621792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2669" y="1024296"/>
            <a:ext cx="1905415" cy="623877"/>
          </a:xfrm>
          <a:prstGeom prst="rect">
            <a:avLst/>
          </a:prstGeom>
          <a:solidFill>
            <a:srgbClr val="16324F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1. Inspect structure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2676603" y="1218657"/>
            <a:ext cx="8183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334155"/>
                </a:solidFill>
              </a:rPr>
              <a:t>Checked shape, variable names, data types, and first rows of the dataset.</a:t>
            </a:r>
            <a:endParaRPr lang="en-US" sz="1800"/>
          </a:p>
        </p:txBody>
      </p:sp>
      <p:sp>
        <p:nvSpPr>
          <p:cNvPr id="9" name="Shape 7"/>
          <p:cNvSpPr/>
          <p:nvPr/>
        </p:nvSpPr>
        <p:spPr>
          <a:xfrm>
            <a:off x="777240" y="1847088"/>
            <a:ext cx="10561320" cy="621792"/>
          </a:xfrm>
          <a:prstGeom prst="roundRect">
            <a:avLst>
              <a:gd name="adj" fmla="val 4412"/>
            </a:avLst>
          </a:prstGeom>
          <a:solidFill>
            <a:srgbClr val="F8FB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3107" y="1847256"/>
            <a:ext cx="1874101" cy="623878"/>
          </a:xfrm>
          <a:prstGeom prst="rect">
            <a:avLst/>
          </a:prstGeom>
          <a:solidFill>
            <a:srgbClr val="16324F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2. Quality check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2697480" y="2041617"/>
            <a:ext cx="8183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334155"/>
                </a:solidFill>
              </a:rPr>
              <a:t>Verified that the dataset had no missing values and counted duplicates.</a:t>
            </a:r>
            <a:endParaRPr lang="en-US" sz="1800"/>
          </a:p>
        </p:txBody>
      </p:sp>
      <p:sp>
        <p:nvSpPr>
          <p:cNvPr id="12" name="Shape 10"/>
          <p:cNvSpPr/>
          <p:nvPr/>
        </p:nvSpPr>
        <p:spPr>
          <a:xfrm>
            <a:off x="777240" y="2670048"/>
            <a:ext cx="10561320" cy="621792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2230" y="2670216"/>
            <a:ext cx="1894977" cy="613439"/>
          </a:xfrm>
          <a:prstGeom prst="rect">
            <a:avLst/>
          </a:prstGeom>
          <a:solidFill>
            <a:srgbClr val="16324F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3. Remove duplicates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2697480" y="2854139"/>
            <a:ext cx="8183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334155"/>
                </a:solidFill>
              </a:rPr>
              <a:t>Dropped 1,081 duplicated transactions before model training.</a:t>
            </a:r>
            <a:endParaRPr lang="en-US" sz="1800"/>
          </a:p>
        </p:txBody>
      </p:sp>
      <p:sp>
        <p:nvSpPr>
          <p:cNvPr id="15" name="Shape 13"/>
          <p:cNvSpPr/>
          <p:nvPr/>
        </p:nvSpPr>
        <p:spPr>
          <a:xfrm>
            <a:off x="777240" y="3493008"/>
            <a:ext cx="10561320" cy="621792"/>
          </a:xfrm>
          <a:prstGeom prst="roundRect">
            <a:avLst>
              <a:gd name="adj" fmla="val 4412"/>
            </a:avLst>
          </a:prstGeom>
          <a:solidFill>
            <a:srgbClr val="F8FB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230" y="3493176"/>
            <a:ext cx="1894978" cy="623878"/>
          </a:xfrm>
          <a:prstGeom prst="rect">
            <a:avLst/>
          </a:prstGeom>
          <a:solidFill>
            <a:srgbClr val="16324F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4. Train/test split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2666165" y="3677099"/>
            <a:ext cx="8183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334155"/>
                </a:solidFill>
              </a:rPr>
              <a:t>Used an 80/20 split with stratification to preserve the fraud ratio.</a:t>
            </a:r>
            <a:endParaRPr lang="en-US" sz="1800"/>
          </a:p>
        </p:txBody>
      </p:sp>
      <p:sp>
        <p:nvSpPr>
          <p:cNvPr id="18" name="Shape 16"/>
          <p:cNvSpPr/>
          <p:nvPr/>
        </p:nvSpPr>
        <p:spPr>
          <a:xfrm>
            <a:off x="777240" y="4315968"/>
            <a:ext cx="10561320" cy="621792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2231" y="4326575"/>
            <a:ext cx="1884538" cy="623877"/>
          </a:xfrm>
          <a:prstGeom prst="rect">
            <a:avLst/>
          </a:prstGeom>
          <a:solidFill>
            <a:srgbClr val="16324F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5. Scale features</a:t>
            </a:r>
            <a:endParaRPr lang="en-US" sz="1600"/>
          </a:p>
        </p:txBody>
      </p:sp>
      <p:sp>
        <p:nvSpPr>
          <p:cNvPr id="20" name="Text 18"/>
          <p:cNvSpPr/>
          <p:nvPr/>
        </p:nvSpPr>
        <p:spPr>
          <a:xfrm>
            <a:off x="2666165" y="4510497"/>
            <a:ext cx="8183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334155"/>
                </a:solidFill>
              </a:rPr>
              <a:t>Standardized only Time and Amount using StandardScaler.</a:t>
            </a:r>
            <a:endParaRPr lang="en-US" sz="1800"/>
          </a:p>
        </p:txBody>
      </p:sp>
      <p:sp>
        <p:nvSpPr>
          <p:cNvPr id="21" name="Shape 19"/>
          <p:cNvSpPr/>
          <p:nvPr/>
        </p:nvSpPr>
        <p:spPr>
          <a:xfrm>
            <a:off x="777240" y="5138928"/>
            <a:ext cx="10561320" cy="673983"/>
          </a:xfrm>
          <a:prstGeom prst="roundRect">
            <a:avLst>
              <a:gd name="adj" fmla="val 4412"/>
            </a:avLst>
          </a:prstGeom>
          <a:solidFill>
            <a:srgbClr val="F8FB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3108" y="5139096"/>
            <a:ext cx="1863662" cy="676069"/>
          </a:xfrm>
          <a:prstGeom prst="rect">
            <a:avLst/>
          </a:prstGeom>
          <a:solidFill>
            <a:srgbClr val="16324F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6. Handle imbalance</a:t>
            </a:r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2697480" y="5354334"/>
            <a:ext cx="8183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334155"/>
                </a:solidFill>
              </a:rPr>
              <a:t>Used class_weight = "balanced" in all three models.</a:t>
            </a:r>
            <a:endParaRPr lang="en-U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79" y="73236"/>
            <a:ext cx="9478444" cy="4073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600" b="1">
                <a:solidFill>
                  <a:srgbClr val="FFFFFF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Data Preprocessing &amp; EDA : Class Imbalance - The Main Challenge</a:t>
            </a:r>
            <a:endParaRPr lang="en-US" sz="2600">
              <a:latin typeface="Aptos Display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6510528"/>
            <a:ext cx="3840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</a:rPr>
              <a:t>DATA 3421 Final Project • Group 19</a:t>
            </a:r>
            <a:endParaRPr lang="en-US" sz="1000"/>
          </a:p>
        </p:txBody>
      </p:sp>
      <p:sp>
        <p:nvSpPr>
          <p:cNvPr id="6" name="Shape 4"/>
          <p:cNvSpPr/>
          <p:nvPr/>
        </p:nvSpPr>
        <p:spPr>
          <a:xfrm>
            <a:off x="502920" y="960120"/>
            <a:ext cx="6583680" cy="5440680"/>
          </a:xfrm>
          <a:prstGeom prst="roundRect">
            <a:avLst>
              <a:gd name="adj" fmla="val 67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7" name="Image 0" descr="/mnt/data/fraud_slides_assets/clas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59168"/>
            <a:ext cx="6217920" cy="385970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0" y="960120"/>
            <a:ext cx="4389120" cy="5440680"/>
          </a:xfrm>
          <a:prstGeom prst="roundRect">
            <a:avLst>
              <a:gd name="adj" fmla="val 8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48683" y="1499783"/>
            <a:ext cx="3513969" cy="4356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>
              <a:buSzPct val="100000"/>
            </a:pPr>
            <a:r>
              <a:rPr lang="en-US" sz="2000" b="1" u="sng">
                <a:solidFill>
                  <a:srgbClr val="16324F"/>
                </a:solidFill>
                <a:latin typeface="Aptos"/>
                <a:ea typeface="Aptos" pitchFamily="34" charset="-122"/>
                <a:cs typeface="Aptos" pitchFamily="34" charset="-120"/>
              </a:rPr>
              <a:t>What the chart shows</a:t>
            </a:r>
            <a:endParaRPr lang="en-US" sz="2000" u="sng">
              <a:solidFill>
                <a:srgbClr val="000000"/>
              </a:solidFill>
              <a:latin typeface="Aptos"/>
              <a:ea typeface="Aptos" pitchFamily="34" charset="-122"/>
              <a:cs typeface="Aptos" pitchFamily="34" charset="-120"/>
            </a:endParaRPr>
          </a:p>
          <a:p>
            <a:endParaRPr lang="en-US" sz="2000" b="1" u="sng">
              <a:solidFill>
                <a:srgbClr val="16324F"/>
              </a:solidFill>
              <a:latin typeface="Aptos"/>
              <a:ea typeface="Aptos" pitchFamily="34" charset="-122"/>
              <a:cs typeface="Aptos" pitchFamily="34" charset="-120"/>
            </a:endParaRPr>
          </a:p>
          <a:p>
            <a:pPr marL="177800" indent="-177800">
              <a:buSzPct val="100000"/>
              <a:buChar char="•"/>
            </a:pPr>
            <a:r>
              <a:rPr lang="en-US" sz="1800">
                <a:solidFill>
                  <a:srgbClr val="334155"/>
                </a:solidFill>
                <a:latin typeface="Aptos"/>
                <a:ea typeface="Aptos" pitchFamily="34" charset="-122"/>
                <a:cs typeface="Aptos" pitchFamily="34" charset="-120"/>
              </a:rPr>
              <a:t>After cleaning, only 473 out of 283,726 transactions are fraud.
</a:t>
            </a:r>
            <a:endParaRPr lang="en-US" sz="1800">
              <a:latin typeface="Aptos"/>
            </a:endParaRPr>
          </a:p>
          <a:p>
            <a:pPr marL="177800" indent="-177800">
              <a:buSzPct val="100000"/>
              <a:buChar char="•"/>
            </a:pPr>
            <a:r>
              <a:rPr lang="en-US" sz="1800">
                <a:solidFill>
                  <a:srgbClr val="334155"/>
                </a:solidFill>
                <a:latin typeface="Aptos"/>
                <a:ea typeface="Aptos" pitchFamily="34" charset="-122"/>
                <a:cs typeface="Aptos" pitchFamily="34" charset="-120"/>
              </a:rPr>
              <a:t>That means fraud cases represent only 0.16671% of the data.
</a:t>
            </a:r>
            <a:endParaRPr lang="en-US" sz="1800">
              <a:latin typeface="Aptos"/>
            </a:endParaRPr>
          </a:p>
          <a:p>
            <a:pPr marL="177800" indent="-177800">
              <a:buSzPct val="100000"/>
              <a:buChar char="•"/>
            </a:pPr>
            <a:r>
              <a:rPr lang="en-US" sz="1800">
                <a:solidFill>
                  <a:srgbClr val="334155"/>
                </a:solidFill>
                <a:latin typeface="Aptos"/>
                <a:ea typeface="Aptos" pitchFamily="34" charset="-122"/>
                <a:cs typeface="Aptos" pitchFamily="34" charset="-120"/>
              </a:rPr>
              <a:t>A model that predicts "normal" almost every time would still appear accurate.
</a:t>
            </a:r>
            <a:endParaRPr lang="en-US" sz="1800">
              <a:latin typeface="Aptos"/>
            </a:endParaRPr>
          </a:p>
          <a:p>
            <a:pPr marL="177800" indent="-177800">
              <a:buSzPct val="100000"/>
              <a:buChar char="•"/>
            </a:pPr>
            <a:r>
              <a:rPr lang="en-US" sz="180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Because of this, recall and F1-score are more informative than accuracy alone.</a:t>
            </a:r>
            <a:endParaRPr lang="en-US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236"/>
            <a:ext cx="8434609" cy="40734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600" b="1">
                <a:solidFill>
                  <a:srgbClr val="FFFFFF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Data Preprocessing &amp; EDA : EDA - Transaction Amount</a:t>
            </a:r>
            <a:endParaRPr lang="en-US" sz="2600">
              <a:latin typeface="Aptos Display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6510528"/>
            <a:ext cx="3840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</a:rPr>
              <a:t>DATA 3421 Final Project • Group 19</a:t>
            </a:r>
            <a:endParaRPr lang="en-US" sz="1000"/>
          </a:p>
        </p:txBody>
      </p:sp>
      <p:sp>
        <p:nvSpPr>
          <p:cNvPr id="6" name="Shape 4"/>
          <p:cNvSpPr/>
          <p:nvPr/>
        </p:nvSpPr>
        <p:spPr>
          <a:xfrm>
            <a:off x="502920" y="1005840"/>
            <a:ext cx="5486400" cy="5212080"/>
          </a:xfrm>
          <a:prstGeom prst="roundRect">
            <a:avLst>
              <a:gd name="adj" fmla="val 7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1005840"/>
            <a:ext cx="5486400" cy="5212080"/>
          </a:xfrm>
          <a:prstGeom prst="roundRect">
            <a:avLst>
              <a:gd name="adj" fmla="val 7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/mnt/data/fraud_slides_assets/amount_h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65496"/>
            <a:ext cx="5029200" cy="3115529"/>
          </a:xfrm>
          <a:prstGeom prst="rect">
            <a:avLst/>
          </a:prstGeom>
        </p:spPr>
      </p:pic>
      <p:pic>
        <p:nvPicPr>
          <p:cNvPr id="9" name="Image 1" descr="/mnt/data/fraud_slides_assets/amount_bo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662351"/>
            <a:ext cx="5029200" cy="312181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" y="544068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334155"/>
                </a:solidFill>
              </a:rPr>
              <a:t>Most transactions are low-value, with a long right tail of large amounts.</a:t>
            </a:r>
            <a:endParaRPr lang="en-US" sz="1600"/>
          </a:p>
        </p:txBody>
      </p:sp>
      <p:sp>
        <p:nvSpPr>
          <p:cNvPr id="11" name="Text 7"/>
          <p:cNvSpPr/>
          <p:nvPr/>
        </p:nvSpPr>
        <p:spPr>
          <a:xfrm>
            <a:off x="6446520" y="5440680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334155"/>
                </a:solidFill>
              </a:rPr>
              <a:t>Fraud and normal transactions both show outliers; amount alone does not separate the classes well.</a:t>
            </a:r>
            <a:endParaRPr lang="en-US"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7672609" cy="27164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600" b="1">
                <a:solidFill>
                  <a:srgbClr val="FFFFFF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Data Preprocessing &amp; EDA : EDA - Transaction Time</a:t>
            </a:r>
            <a:endParaRPr lang="en-US" sz="2600">
              <a:latin typeface="Aptos Display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6510528"/>
            <a:ext cx="3840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</a:rPr>
              <a:t>DATA 3421 Final Project • Group 19</a:t>
            </a:r>
            <a:endParaRPr lang="en-US" sz="1000"/>
          </a:p>
        </p:txBody>
      </p:sp>
      <p:sp>
        <p:nvSpPr>
          <p:cNvPr id="6" name="Text 4"/>
          <p:cNvSpPr/>
          <p:nvPr/>
        </p:nvSpPr>
        <p:spPr>
          <a:xfrm>
            <a:off x="408975" y="1270766"/>
            <a:ext cx="4736508" cy="431145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210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Transactions are spread across the two-day observation window rather than concentrated at a single point.
</a:t>
            </a:r>
            <a:endParaRPr lang="en-US" sz="2100"/>
          </a:p>
          <a:p>
            <a:pPr marL="177800" indent="-177800">
              <a:buSzPct val="100000"/>
              <a:buChar char="•"/>
            </a:pPr>
            <a:r>
              <a:rPr lang="en-US" sz="210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distribution has repeating peaks and valleys, which likely reflect daily customer activity patterns.
</a:t>
            </a:r>
            <a:endParaRPr lang="en-US" sz="2100"/>
          </a:p>
          <a:p>
            <a:pPr marL="177800" indent="-177800">
              <a:buSzPct val="100000"/>
              <a:buChar char="•"/>
            </a:pPr>
            <a:r>
              <a:rPr lang="en-US" sz="210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is informative but not obviously sufficient by itself to identify fraud.
</a:t>
            </a:r>
            <a:endParaRPr lang="en-US" sz="2100"/>
          </a:p>
          <a:p>
            <a:pPr marL="177800" indent="-177800">
              <a:buSzPct val="100000"/>
              <a:buChar char="•"/>
            </a:pPr>
            <a:r>
              <a:rPr lang="en-US" sz="210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why Time was scaled and kept as one feature among many.</a:t>
            </a:r>
            <a:endParaRPr lang="en-US" sz="2100"/>
          </a:p>
        </p:txBody>
      </p:sp>
      <p:sp>
        <p:nvSpPr>
          <p:cNvPr id="7" name="Shape 5"/>
          <p:cNvSpPr/>
          <p:nvPr/>
        </p:nvSpPr>
        <p:spPr>
          <a:xfrm>
            <a:off x="5486400" y="960120"/>
            <a:ext cx="6172200" cy="5257800"/>
          </a:xfrm>
          <a:prstGeom prst="roundRect">
            <a:avLst>
              <a:gd name="adj" fmla="val 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/mnt/data/fraud_slides_assets/time_h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628299"/>
            <a:ext cx="5897880" cy="365626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0" y="5806440"/>
            <a:ext cx="5760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64748B"/>
                </a:solidFill>
              </a:rPr>
              <a:t>Histogram of transaction time across the observation period.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79" y="73236"/>
            <a:ext cx="8706006" cy="4073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600" b="1">
                <a:solidFill>
                  <a:srgbClr val="FFFFFF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Data Preprocessing &amp; EDA : Feature Relationships with Fraud</a:t>
            </a:r>
            <a:endParaRPr lang="en-US" sz="2600">
              <a:latin typeface="Aptos Display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6510528"/>
            <a:ext cx="3840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</a:rPr>
              <a:t>DATA 3421 Final Project • Group 19</a:t>
            </a:r>
            <a:endParaRPr lang="en-US" sz="1000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4663440" cy="4937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210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features are anonymized PCA components, so interpretation is limited.
</a:t>
            </a:r>
            <a:endParaRPr lang="en-US" sz="2100"/>
          </a:p>
          <a:p>
            <a:pPr marL="177800" indent="-177800">
              <a:buSzPct val="100000"/>
              <a:buChar char="•"/>
            </a:pPr>
            <a:r>
              <a:rPr lang="en-US" sz="210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Instead of explaining each feature individually, we looked at how strongly each feature correlates with the fraud label.
</a:t>
            </a:r>
            <a:endParaRPr lang="en-US" sz="2100"/>
          </a:p>
          <a:p>
            <a:pPr marL="177800" indent="-177800">
              <a:buSzPct val="100000"/>
              <a:buChar char="•"/>
            </a:pPr>
            <a:r>
              <a:rPr lang="en-US" sz="210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 such as V14, V12, V17, and V10 show stronger relationships with fraud than most others.
</a:t>
            </a:r>
            <a:endParaRPr lang="en-US" sz="2100"/>
          </a:p>
          <a:p>
            <a:pPr marL="177800" indent="-177800">
              <a:buSzPct val="100000"/>
              <a:buChar char="•"/>
            </a:pPr>
            <a:r>
              <a:rPr lang="en-US" sz="210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supports using machine learning models that combine many variables at once.</a:t>
            </a:r>
            <a:endParaRPr lang="en-US" sz="2100"/>
          </a:p>
        </p:txBody>
      </p:sp>
      <p:sp>
        <p:nvSpPr>
          <p:cNvPr id="7" name="Shape 5"/>
          <p:cNvSpPr/>
          <p:nvPr/>
        </p:nvSpPr>
        <p:spPr>
          <a:xfrm>
            <a:off x="5486400" y="960120"/>
            <a:ext cx="6172200" cy="5257800"/>
          </a:xfrm>
          <a:prstGeom prst="roundRect">
            <a:avLst>
              <a:gd name="adj" fmla="val 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/mnt/data/fraud_slides_assets/top_correl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636073"/>
            <a:ext cx="5897880" cy="364071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0" y="5806440"/>
            <a:ext cx="5760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64748B"/>
                </a:solidFill>
              </a:rPr>
              <a:t>Top absolute correlations with the fraud class.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7181"/>
            <a:ext cx="7223760" cy="2194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600" b="1">
                <a:solidFill>
                  <a:srgbClr val="FFFFFF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Modeling &amp; Evaluation : Modeling Pipeline</a:t>
            </a:r>
            <a:endParaRPr lang="en-US" sz="2600">
              <a:latin typeface="Aptos Display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6510528"/>
            <a:ext cx="3840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</a:rPr>
              <a:t>DATA 3421 Final Project • Group 19</a:t>
            </a:r>
            <a:endParaRPr lang="en-US" sz="1000"/>
          </a:p>
        </p:txBody>
      </p:sp>
      <p:sp>
        <p:nvSpPr>
          <p:cNvPr id="6" name="Shape 4"/>
          <p:cNvSpPr/>
          <p:nvPr/>
        </p:nvSpPr>
        <p:spPr>
          <a:xfrm>
            <a:off x="411480" y="1920240"/>
            <a:ext cx="2152650" cy="1695450"/>
          </a:xfrm>
          <a:prstGeom prst="chevron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6097" y="2034540"/>
            <a:ext cx="1363980" cy="4297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900" b="1">
                <a:solidFill>
                  <a:srgbClr val="FFFFFF"/>
                </a:solidFill>
              </a:rPr>
              <a:t>Clean             Data</a:t>
            </a:r>
            <a:endParaRPr lang="en-US" sz="1900"/>
          </a:p>
        </p:txBody>
      </p:sp>
      <p:sp>
        <p:nvSpPr>
          <p:cNvPr id="8" name="Text 6"/>
          <p:cNvSpPr/>
          <p:nvPr/>
        </p:nvSpPr>
        <p:spPr>
          <a:xfrm>
            <a:off x="510540" y="2610993"/>
            <a:ext cx="2057400" cy="99783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50">
                <a:solidFill>
                  <a:srgbClr val="FFFFFF"/>
                </a:solidFill>
              </a:rPr>
              <a:t>                    Remove </a:t>
            </a:r>
            <a:endParaRPr lang="en-US" sz="1450">
              <a:solidFill>
                <a:srgbClr val="000000"/>
              </a:solidFill>
            </a:endParaRPr>
          </a:p>
          <a:p>
            <a:r>
              <a:rPr lang="en-US" sz="1450">
                <a:solidFill>
                  <a:srgbClr val="FFFFFF"/>
                </a:solidFill>
              </a:rPr>
              <a:t>              duplicates &amp;</a:t>
            </a:r>
            <a:endParaRPr lang="en-US" sz="1450"/>
          </a:p>
          <a:p>
            <a:r>
              <a:rPr lang="en-US" sz="1450">
                <a:solidFill>
                  <a:srgbClr val="FFFFFF"/>
                </a:solidFill>
              </a:rPr>
              <a:t>           check </a:t>
            </a:r>
            <a:endParaRPr lang="en-US" sz="1450">
              <a:solidFill>
                <a:srgbClr val="000000"/>
              </a:solidFill>
            </a:endParaRPr>
          </a:p>
          <a:p>
            <a:r>
              <a:rPr lang="en-US" sz="1450">
                <a:solidFill>
                  <a:srgbClr val="FFFFFF"/>
                </a:solidFill>
              </a:rPr>
              <a:t>  missing values</a:t>
            </a:r>
            <a:endParaRPr lang="en-US" sz="1450"/>
          </a:p>
        </p:txBody>
      </p:sp>
      <p:sp>
        <p:nvSpPr>
          <p:cNvPr id="9" name="Shape 7"/>
          <p:cNvSpPr/>
          <p:nvPr/>
        </p:nvSpPr>
        <p:spPr>
          <a:xfrm>
            <a:off x="2718435" y="1920240"/>
            <a:ext cx="2152650" cy="1695450"/>
          </a:xfrm>
          <a:prstGeom prst="chevron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11602" y="2034540"/>
            <a:ext cx="1344930" cy="44881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900" b="1">
                <a:solidFill>
                  <a:srgbClr val="FFFFFF"/>
                </a:solidFill>
              </a:rPr>
              <a:t>Split </a:t>
            </a:r>
            <a:endParaRPr lang="en-US" sz="1900">
              <a:solidFill>
                <a:srgbClr val="000000"/>
              </a:solidFill>
            </a:endParaRPr>
          </a:p>
          <a:p>
            <a:pPr algn="ctr"/>
            <a:r>
              <a:rPr lang="en-US" sz="1900" b="1">
                <a:solidFill>
                  <a:srgbClr val="FFFFFF"/>
                </a:solidFill>
              </a:rPr>
              <a:t>        Data</a:t>
            </a:r>
            <a:endParaRPr lang="en-US" sz="1900"/>
          </a:p>
        </p:txBody>
      </p:sp>
      <p:sp>
        <p:nvSpPr>
          <p:cNvPr id="11" name="Text 9"/>
          <p:cNvSpPr/>
          <p:nvPr/>
        </p:nvSpPr>
        <p:spPr>
          <a:xfrm>
            <a:off x="2912745" y="2753868"/>
            <a:ext cx="1485900" cy="86448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50">
                <a:solidFill>
                  <a:srgbClr val="FFFFFF"/>
                </a:solidFill>
              </a:rPr>
              <a:t>              80/20            stratified</a:t>
            </a:r>
            <a:endParaRPr lang="en-US" sz="1450"/>
          </a:p>
          <a:p>
            <a:r>
              <a:rPr lang="en-US" sz="1450">
                <a:solidFill>
                  <a:srgbClr val="FFFFFF"/>
                </a:solidFill>
              </a:rPr>
              <a:t> train/test split</a:t>
            </a:r>
            <a:endParaRPr lang="en-US" sz="1450"/>
          </a:p>
        </p:txBody>
      </p:sp>
      <p:sp>
        <p:nvSpPr>
          <p:cNvPr id="12" name="Shape 10"/>
          <p:cNvSpPr/>
          <p:nvPr/>
        </p:nvSpPr>
        <p:spPr>
          <a:xfrm>
            <a:off x="5120640" y="1920240"/>
            <a:ext cx="2152650" cy="1695450"/>
          </a:xfrm>
          <a:prstGeom prst="chevron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18582" y="2034540"/>
            <a:ext cx="1373505" cy="4297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900" b="1">
                <a:solidFill>
                  <a:srgbClr val="FFFFFF"/>
                </a:solidFill>
              </a:rPr>
              <a:t>Scale               Features</a:t>
            </a:r>
            <a:endParaRPr lang="en-US" sz="1900"/>
          </a:p>
        </p:txBody>
      </p:sp>
      <p:sp>
        <p:nvSpPr>
          <p:cNvPr id="14" name="Text 12"/>
          <p:cNvSpPr/>
          <p:nvPr/>
        </p:nvSpPr>
        <p:spPr>
          <a:xfrm>
            <a:off x="5086350" y="2915793"/>
            <a:ext cx="1905000" cy="68351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50">
                <a:solidFill>
                  <a:srgbClr val="FFFFFF"/>
                </a:solidFill>
              </a:rPr>
              <a:t>                 Standardize</a:t>
            </a:r>
            <a:endParaRPr lang="en-US" sz="1450"/>
          </a:p>
          <a:p>
            <a:r>
              <a:rPr lang="en-US" sz="1450">
                <a:solidFill>
                  <a:srgbClr val="FFFFFF"/>
                </a:solidFill>
              </a:rPr>
              <a:t>                 Time </a:t>
            </a:r>
            <a:endParaRPr lang="en-US" sz="1450">
              <a:solidFill>
                <a:srgbClr val="000000"/>
              </a:solidFill>
            </a:endParaRPr>
          </a:p>
          <a:p>
            <a:r>
              <a:rPr lang="en-US" sz="1450">
                <a:solidFill>
                  <a:srgbClr val="FFFFFF"/>
                </a:solidFill>
              </a:rPr>
              <a:t>        &amp; Amount</a:t>
            </a:r>
            <a:endParaRPr lang="en-US" sz="1450"/>
          </a:p>
        </p:txBody>
      </p:sp>
      <p:sp>
        <p:nvSpPr>
          <p:cNvPr id="15" name="Shape 13"/>
          <p:cNvSpPr/>
          <p:nvPr/>
        </p:nvSpPr>
        <p:spPr>
          <a:xfrm>
            <a:off x="7360920" y="1920240"/>
            <a:ext cx="2114550" cy="1695450"/>
          </a:xfrm>
          <a:prstGeom prst="chevron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39812" y="2034540"/>
            <a:ext cx="1411605" cy="44881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900" b="1">
                <a:solidFill>
                  <a:srgbClr val="FFFFFF"/>
                </a:solidFill>
              </a:rPr>
              <a:t>Train                    Models</a:t>
            </a:r>
            <a:endParaRPr lang="en-US" sz="1900"/>
          </a:p>
        </p:txBody>
      </p:sp>
      <p:sp>
        <p:nvSpPr>
          <p:cNvPr id="17" name="Text 15"/>
          <p:cNvSpPr/>
          <p:nvPr/>
        </p:nvSpPr>
        <p:spPr>
          <a:xfrm>
            <a:off x="7945755" y="2972943"/>
            <a:ext cx="1657350" cy="56921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285750" indent="-285750">
              <a:buFont typeface="Arial"/>
              <a:buChar char="•"/>
            </a:pPr>
            <a:r>
              <a:rPr lang="en-US" sz="1450">
                <a:solidFill>
                  <a:srgbClr val="FFFFFF"/>
                </a:solidFill>
              </a:rPr>
              <a:t>LR 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450">
                <a:solidFill>
                  <a:srgbClr val="FFFFFF"/>
                </a:solidFill>
              </a:rPr>
              <a:t>DT</a:t>
            </a:r>
          </a:p>
          <a:p>
            <a:pPr marL="285750" indent="-285750">
              <a:buFont typeface="Arial"/>
              <a:buChar char="•"/>
            </a:pPr>
            <a:r>
              <a:rPr lang="en-US" sz="1450">
                <a:solidFill>
                  <a:srgbClr val="FFFFFF"/>
                </a:solidFill>
              </a:rPr>
              <a:t>RF</a:t>
            </a:r>
            <a:endParaRPr lang="en-US" sz="1450"/>
          </a:p>
        </p:txBody>
      </p:sp>
      <p:sp>
        <p:nvSpPr>
          <p:cNvPr id="18" name="Shape 16"/>
          <p:cNvSpPr/>
          <p:nvPr/>
        </p:nvSpPr>
        <p:spPr>
          <a:xfrm>
            <a:off x="9601200" y="1920240"/>
            <a:ext cx="1924050" cy="1695450"/>
          </a:xfrm>
          <a:prstGeom prst="chevron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61042" y="2148840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>
                <a:solidFill>
                  <a:srgbClr val="FFFFFF"/>
                </a:solidFill>
              </a:rPr>
              <a:t>Evaluate</a:t>
            </a:r>
            <a:endParaRPr lang="en-US" sz="1900"/>
          </a:p>
        </p:txBody>
      </p:sp>
      <p:sp>
        <p:nvSpPr>
          <p:cNvPr id="20" name="Text 18"/>
          <p:cNvSpPr/>
          <p:nvPr/>
        </p:nvSpPr>
        <p:spPr>
          <a:xfrm>
            <a:off x="9605010" y="2763393"/>
            <a:ext cx="1924050" cy="83591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50">
                <a:solidFill>
                  <a:srgbClr val="FFFFFF"/>
                </a:solidFill>
              </a:rPr>
              <a:t>                      Precision</a:t>
            </a:r>
            <a:endParaRPr lang="en-US" sz="1450"/>
          </a:p>
          <a:p>
            <a:r>
              <a:rPr lang="en-US" sz="1450">
                <a:solidFill>
                  <a:srgbClr val="FFFFFF"/>
                </a:solidFill>
              </a:rPr>
              <a:t>                 Recall</a:t>
            </a:r>
            <a:endParaRPr lang="en-US" sz="1450"/>
          </a:p>
          <a:p>
            <a:r>
              <a:rPr lang="en-US" sz="1450">
                <a:solidFill>
                  <a:srgbClr val="FFFFFF"/>
                </a:solidFill>
              </a:rPr>
              <a:t>           F1-score</a:t>
            </a:r>
            <a:endParaRPr lang="en-US" sz="1450"/>
          </a:p>
          <a:p>
            <a:r>
              <a:rPr lang="en-US" sz="1450">
                <a:solidFill>
                  <a:srgbClr val="FFFFFF"/>
                </a:solidFill>
              </a:rPr>
              <a:t>    ROC-AUC</a:t>
            </a:r>
            <a:endParaRPr lang="en-US" sz="1450"/>
          </a:p>
        </p:txBody>
      </p:sp>
      <p:sp>
        <p:nvSpPr>
          <p:cNvPr id="21" name="Shape 19"/>
          <p:cNvSpPr/>
          <p:nvPr/>
        </p:nvSpPr>
        <p:spPr>
          <a:xfrm>
            <a:off x="1005840" y="4754880"/>
            <a:ext cx="100584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05840" y="4754880"/>
            <a:ext cx="146304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34440" y="4864608"/>
            <a:ext cx="9738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563EB"/>
                </a:solidFill>
              </a:rPr>
              <a:t>Why these models?</a:t>
            </a:r>
            <a:endParaRPr lang="en-US" sz="1600"/>
          </a:p>
        </p:txBody>
      </p:sp>
      <p:sp>
        <p:nvSpPr>
          <p:cNvPr id="24" name="Text 22"/>
          <p:cNvSpPr/>
          <p:nvPr/>
        </p:nvSpPr>
        <p:spPr>
          <a:xfrm>
            <a:off x="1234440" y="5120640"/>
            <a:ext cx="9738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334155"/>
                </a:solidFill>
              </a:rPr>
              <a:t>Logistic Regression gives a simple baseline, Decision Tree provides interpretable nonlinear rules, and Random Forest is a stronger ensemble classifier.</a:t>
            </a:r>
            <a:endParaRPr lang="en-US" sz="1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2358"/>
            <a:ext cx="9269678" cy="45953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600" b="1">
                <a:solidFill>
                  <a:srgbClr val="FFFFFF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Modeling &amp; Evaluation : Model 1 - Logistic Regression</a:t>
            </a:r>
            <a:endParaRPr lang="en-US" sz="2600">
              <a:latin typeface="Aptos Display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6510528"/>
            <a:ext cx="3840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</a:rPr>
              <a:t>DATA 3421 Final Project • Group 19</a:t>
            </a:r>
            <a:endParaRPr lang="en-US" sz="1000"/>
          </a:p>
        </p:txBody>
      </p:sp>
      <p:sp>
        <p:nvSpPr>
          <p:cNvPr id="6" name="Shape 4"/>
          <p:cNvSpPr/>
          <p:nvPr/>
        </p:nvSpPr>
        <p:spPr>
          <a:xfrm>
            <a:off x="502920" y="960120"/>
            <a:ext cx="4206240" cy="5440680"/>
          </a:xfrm>
          <a:prstGeom prst="roundRect">
            <a:avLst>
              <a:gd name="adj" fmla="val 87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43000"/>
            <a:ext cx="2377440" cy="2194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6324F"/>
                </a:solidFill>
              </a:rPr>
              <a:t>Test-set Metrics</a:t>
            </a:r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64592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334155"/>
                </a:solidFill>
              </a:rPr>
              <a:t>Accuracy</a:t>
            </a:r>
            <a:endParaRPr lang="en-US" sz="1700"/>
          </a:p>
        </p:txBody>
      </p:sp>
      <p:sp>
        <p:nvSpPr>
          <p:cNvPr id="9" name="Text 7"/>
          <p:cNvSpPr/>
          <p:nvPr/>
        </p:nvSpPr>
        <p:spPr>
          <a:xfrm>
            <a:off x="2697480" y="160934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>
                <a:solidFill>
                  <a:srgbClr val="334155"/>
                </a:solidFill>
              </a:rPr>
              <a:t>0.9752</a:t>
            </a:r>
            <a:endParaRPr lang="en-US" sz="2300"/>
          </a:p>
        </p:txBody>
      </p:sp>
      <p:sp>
        <p:nvSpPr>
          <p:cNvPr id="10" name="Text 8"/>
          <p:cNvSpPr/>
          <p:nvPr/>
        </p:nvSpPr>
        <p:spPr>
          <a:xfrm>
            <a:off x="822960" y="226771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334155"/>
                </a:solidFill>
              </a:rPr>
              <a:t>Precision</a:t>
            </a:r>
            <a:endParaRPr lang="en-US" sz="1700"/>
          </a:p>
        </p:txBody>
      </p:sp>
      <p:sp>
        <p:nvSpPr>
          <p:cNvPr id="11" name="Text 9"/>
          <p:cNvSpPr/>
          <p:nvPr/>
        </p:nvSpPr>
        <p:spPr>
          <a:xfrm>
            <a:off x="2697480" y="223113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>
                <a:solidFill>
                  <a:srgbClr val="DC2626"/>
                </a:solidFill>
              </a:rPr>
              <a:t>0.0562</a:t>
            </a:r>
            <a:endParaRPr lang="en-US" sz="2300"/>
          </a:p>
        </p:txBody>
      </p:sp>
      <p:sp>
        <p:nvSpPr>
          <p:cNvPr id="12" name="Text 10"/>
          <p:cNvSpPr/>
          <p:nvPr/>
        </p:nvSpPr>
        <p:spPr>
          <a:xfrm>
            <a:off x="822960" y="2889504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334155"/>
                </a:solidFill>
              </a:rPr>
              <a:t>Recall</a:t>
            </a:r>
            <a:endParaRPr lang="en-US" sz="1700"/>
          </a:p>
        </p:txBody>
      </p:sp>
      <p:sp>
        <p:nvSpPr>
          <p:cNvPr id="13" name="Text 11"/>
          <p:cNvSpPr/>
          <p:nvPr/>
        </p:nvSpPr>
        <p:spPr>
          <a:xfrm>
            <a:off x="2697480" y="285292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>
                <a:solidFill>
                  <a:srgbClr val="D97706"/>
                </a:solidFill>
              </a:rPr>
              <a:t>0.8737</a:t>
            </a:r>
            <a:endParaRPr lang="en-US" sz="2300"/>
          </a:p>
        </p:txBody>
      </p:sp>
      <p:sp>
        <p:nvSpPr>
          <p:cNvPr id="14" name="Text 12"/>
          <p:cNvSpPr/>
          <p:nvPr/>
        </p:nvSpPr>
        <p:spPr>
          <a:xfrm>
            <a:off x="822960" y="351129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334155"/>
                </a:solidFill>
              </a:rPr>
              <a:t>F1-score</a:t>
            </a:r>
            <a:endParaRPr lang="en-US" sz="1700"/>
          </a:p>
        </p:txBody>
      </p:sp>
      <p:sp>
        <p:nvSpPr>
          <p:cNvPr id="15" name="Text 13"/>
          <p:cNvSpPr/>
          <p:nvPr/>
        </p:nvSpPr>
        <p:spPr>
          <a:xfrm>
            <a:off x="2697480" y="347472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>
                <a:solidFill>
                  <a:srgbClr val="2A9D8F"/>
                </a:solidFill>
              </a:rPr>
              <a:t>0.1057</a:t>
            </a:r>
            <a:endParaRPr lang="en-US" sz="2300"/>
          </a:p>
        </p:txBody>
      </p:sp>
      <p:sp>
        <p:nvSpPr>
          <p:cNvPr id="16" name="Text 14"/>
          <p:cNvSpPr/>
          <p:nvPr/>
        </p:nvSpPr>
        <p:spPr>
          <a:xfrm>
            <a:off x="822960" y="413308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334155"/>
                </a:solidFill>
              </a:rPr>
              <a:t>ROC-AUC</a:t>
            </a:r>
            <a:endParaRPr lang="en-US" sz="1700"/>
          </a:p>
        </p:txBody>
      </p:sp>
      <p:sp>
        <p:nvSpPr>
          <p:cNvPr id="17" name="Text 15"/>
          <p:cNvSpPr/>
          <p:nvPr/>
        </p:nvSpPr>
        <p:spPr>
          <a:xfrm>
            <a:off x="2697480" y="409651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>
                <a:solidFill>
                  <a:srgbClr val="2563EB"/>
                </a:solidFill>
              </a:rPr>
              <a:t>0.9658</a:t>
            </a:r>
            <a:endParaRPr lang="en-US" sz="2300"/>
          </a:p>
        </p:txBody>
      </p:sp>
      <p:sp>
        <p:nvSpPr>
          <p:cNvPr id="18" name="Shape 16"/>
          <p:cNvSpPr/>
          <p:nvPr/>
        </p:nvSpPr>
        <p:spPr>
          <a:xfrm>
            <a:off x="749808" y="4983480"/>
            <a:ext cx="361188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9808" y="4983480"/>
            <a:ext cx="146304" cy="960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8408" y="5093208"/>
            <a:ext cx="3291840" cy="2011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600" b="1">
              <a:solidFill>
                <a:srgbClr val="DC2626"/>
              </a:solidFill>
              <a:ea typeface="Calibri"/>
              <a:cs typeface="Calibr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78408" y="4987290"/>
            <a:ext cx="3282315" cy="9220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600" b="1">
                <a:solidFill>
                  <a:srgbClr val="DC2626"/>
                </a:solidFill>
                <a:ea typeface="Calibri"/>
                <a:cs typeface="Calibri"/>
              </a:rPr>
              <a:t>Interpretation</a:t>
            </a:r>
            <a:endParaRPr lang="en-US"/>
          </a:p>
          <a:p>
            <a:pPr marL="0" indent="0">
              <a:buNone/>
            </a:pPr>
            <a:r>
              <a:rPr lang="en-US" sz="1500">
                <a:solidFill>
                  <a:srgbClr val="334155"/>
                </a:solidFill>
              </a:rPr>
              <a:t>It catches many fraud cases (high recall) but triggers many false positives, so precision is very low.</a:t>
            </a:r>
            <a:endParaRPr lang="en-US" sz="1500">
              <a:ea typeface="Calibri"/>
              <a:cs typeface="Calibri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029200" y="960120"/>
            <a:ext cx="6629400" cy="5440680"/>
          </a:xfrm>
          <a:prstGeom prst="roundRect">
            <a:avLst>
              <a:gd name="adj" fmla="val 67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1143000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6324F"/>
                </a:solidFill>
              </a:rPr>
              <a:t>Confusion matrix</a:t>
            </a:r>
            <a:endParaRPr lang="en-US" sz="2000"/>
          </a:p>
        </p:txBody>
      </p:sp>
      <p:pic>
        <p:nvPicPr>
          <p:cNvPr id="24" name="Image 0" descr="/mnt/data/fraud_slides_assets/logistic_regression_c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1387" y="1508760"/>
            <a:ext cx="5690787" cy="4434840"/>
          </a:xfrm>
          <a:prstGeom prst="rect">
            <a:avLst/>
          </a:prstGeom>
        </p:spPr>
      </p:pic>
      <p:pic>
        <p:nvPicPr>
          <p:cNvPr id="5" name="Picture 4" descr="A chart of a logistic regression&#10;&#10;AI-generated content may be incorrect.">
            <a:extLst>
              <a:ext uri="{FF2B5EF4-FFF2-40B4-BE49-F238E27FC236}">
                <a16:creationId xmlns:a16="http://schemas.microsoft.com/office/drawing/2014/main" id="{E7287D9C-4F2A-B8E9-CD9B-A137E4F532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250" y="1052513"/>
            <a:ext cx="6610350" cy="534352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D763FAD-BFD0-C080-08F0-9DD36A6DB3C8}"/>
              </a:ext>
            </a:extLst>
          </p:cNvPr>
          <p:cNvSpPr txBox="1"/>
          <p:nvPr/>
        </p:nvSpPr>
        <p:spPr>
          <a:xfrm>
            <a:off x="5919507" y="1053006"/>
            <a:ext cx="4311138" cy="369332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ea typeface="Calibri"/>
                <a:cs typeface="Calibri"/>
              </a:rPr>
              <a:t>Confusion Matrix – Logistic Regression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79" y="73235"/>
            <a:ext cx="7150692" cy="40734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600" b="1">
                <a:solidFill>
                  <a:srgbClr val="FFFFFF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Modeling &amp; Evaluation : Model 2 - Decision Tree</a:t>
            </a:r>
            <a:endParaRPr lang="en-US" sz="2600">
              <a:latin typeface="Aptos Display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6510528"/>
            <a:ext cx="3840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</a:rPr>
              <a:t>DATA 3421 Final Project • Group 19</a:t>
            </a:r>
            <a:endParaRPr lang="en-US" sz="1000"/>
          </a:p>
        </p:txBody>
      </p:sp>
      <p:sp>
        <p:nvSpPr>
          <p:cNvPr id="6" name="Shape 4"/>
          <p:cNvSpPr/>
          <p:nvPr/>
        </p:nvSpPr>
        <p:spPr>
          <a:xfrm>
            <a:off x="502920" y="960120"/>
            <a:ext cx="4206240" cy="5440680"/>
          </a:xfrm>
          <a:prstGeom prst="roundRect">
            <a:avLst>
              <a:gd name="adj" fmla="val 87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43000"/>
            <a:ext cx="2377440" cy="2194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6324F"/>
                </a:solidFill>
              </a:rPr>
              <a:t>Test-set Metrics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822960" y="164592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334155"/>
                </a:solidFill>
              </a:rPr>
              <a:t>Accuracy</a:t>
            </a:r>
            <a:endParaRPr lang="en-US" sz="1700"/>
          </a:p>
        </p:txBody>
      </p:sp>
      <p:sp>
        <p:nvSpPr>
          <p:cNvPr id="9" name="Text 7"/>
          <p:cNvSpPr/>
          <p:nvPr/>
        </p:nvSpPr>
        <p:spPr>
          <a:xfrm>
            <a:off x="2697480" y="160934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>
                <a:solidFill>
                  <a:srgbClr val="334155"/>
                </a:solidFill>
              </a:rPr>
              <a:t>0.9644</a:t>
            </a:r>
            <a:endParaRPr lang="en-US" sz="2300"/>
          </a:p>
        </p:txBody>
      </p:sp>
      <p:sp>
        <p:nvSpPr>
          <p:cNvPr id="10" name="Text 8"/>
          <p:cNvSpPr/>
          <p:nvPr/>
        </p:nvSpPr>
        <p:spPr>
          <a:xfrm>
            <a:off x="822960" y="226771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334155"/>
                </a:solidFill>
              </a:rPr>
              <a:t>Precision</a:t>
            </a:r>
            <a:endParaRPr lang="en-US" sz="1700"/>
          </a:p>
        </p:txBody>
      </p:sp>
      <p:sp>
        <p:nvSpPr>
          <p:cNvPr id="11" name="Text 9"/>
          <p:cNvSpPr/>
          <p:nvPr/>
        </p:nvSpPr>
        <p:spPr>
          <a:xfrm>
            <a:off x="2697480" y="223113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>
                <a:solidFill>
                  <a:srgbClr val="DC2626"/>
                </a:solidFill>
              </a:rPr>
              <a:t>0.0388</a:t>
            </a:r>
            <a:endParaRPr lang="en-US" sz="2300"/>
          </a:p>
        </p:txBody>
      </p:sp>
      <p:sp>
        <p:nvSpPr>
          <p:cNvPr id="12" name="Text 10"/>
          <p:cNvSpPr/>
          <p:nvPr/>
        </p:nvSpPr>
        <p:spPr>
          <a:xfrm>
            <a:off x="822960" y="2889504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334155"/>
                </a:solidFill>
              </a:rPr>
              <a:t>Recall</a:t>
            </a:r>
            <a:endParaRPr lang="en-US" sz="1700"/>
          </a:p>
        </p:txBody>
      </p:sp>
      <p:sp>
        <p:nvSpPr>
          <p:cNvPr id="13" name="Text 11"/>
          <p:cNvSpPr/>
          <p:nvPr/>
        </p:nvSpPr>
        <p:spPr>
          <a:xfrm>
            <a:off x="2697480" y="285292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>
                <a:solidFill>
                  <a:srgbClr val="D97706"/>
                </a:solidFill>
              </a:rPr>
              <a:t>0.8526</a:t>
            </a:r>
            <a:endParaRPr lang="en-US" sz="2300"/>
          </a:p>
        </p:txBody>
      </p:sp>
      <p:sp>
        <p:nvSpPr>
          <p:cNvPr id="14" name="Text 12"/>
          <p:cNvSpPr/>
          <p:nvPr/>
        </p:nvSpPr>
        <p:spPr>
          <a:xfrm>
            <a:off x="822960" y="351129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334155"/>
                </a:solidFill>
              </a:rPr>
              <a:t>F1-score</a:t>
            </a:r>
            <a:endParaRPr lang="en-US" sz="1700"/>
          </a:p>
        </p:txBody>
      </p:sp>
      <p:sp>
        <p:nvSpPr>
          <p:cNvPr id="15" name="Text 13"/>
          <p:cNvSpPr/>
          <p:nvPr/>
        </p:nvSpPr>
        <p:spPr>
          <a:xfrm>
            <a:off x="2697480" y="347472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>
                <a:solidFill>
                  <a:srgbClr val="2A9D8F"/>
                </a:solidFill>
              </a:rPr>
              <a:t>0.0743</a:t>
            </a:r>
            <a:endParaRPr lang="en-US" sz="2300"/>
          </a:p>
        </p:txBody>
      </p:sp>
      <p:sp>
        <p:nvSpPr>
          <p:cNvPr id="16" name="Text 14"/>
          <p:cNvSpPr/>
          <p:nvPr/>
        </p:nvSpPr>
        <p:spPr>
          <a:xfrm>
            <a:off x="822960" y="413308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334155"/>
                </a:solidFill>
              </a:rPr>
              <a:t>ROC-AUC</a:t>
            </a:r>
            <a:endParaRPr lang="en-US" sz="1700"/>
          </a:p>
        </p:txBody>
      </p:sp>
      <p:sp>
        <p:nvSpPr>
          <p:cNvPr id="17" name="Text 15"/>
          <p:cNvSpPr/>
          <p:nvPr/>
        </p:nvSpPr>
        <p:spPr>
          <a:xfrm>
            <a:off x="2697480" y="409651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>
                <a:solidFill>
                  <a:srgbClr val="2563EB"/>
                </a:solidFill>
              </a:rPr>
              <a:t>0.9061</a:t>
            </a:r>
            <a:endParaRPr lang="en-US" sz="2300"/>
          </a:p>
        </p:txBody>
      </p:sp>
      <p:sp>
        <p:nvSpPr>
          <p:cNvPr id="18" name="Shape 16"/>
          <p:cNvSpPr/>
          <p:nvPr/>
        </p:nvSpPr>
        <p:spPr>
          <a:xfrm>
            <a:off x="749808" y="4983480"/>
            <a:ext cx="361188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9808" y="4983480"/>
            <a:ext cx="146304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8408" y="5093208"/>
            <a:ext cx="3291840" cy="2011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600" b="1">
              <a:solidFill>
                <a:srgbClr val="D97706"/>
              </a:solidFill>
              <a:ea typeface="Calibri"/>
              <a:cs typeface="Calibr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78408" y="4987290"/>
            <a:ext cx="3282315" cy="9220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600" b="1">
                <a:solidFill>
                  <a:srgbClr val="D97706"/>
                </a:solidFill>
              </a:rPr>
              <a:t>Interpretation</a:t>
            </a:r>
            <a:endParaRPr lang="en-US" sz="1600">
              <a:solidFill>
                <a:srgbClr val="000000"/>
              </a:solidFill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500">
                <a:solidFill>
                  <a:srgbClr val="334155"/>
                </a:solidFill>
              </a:rPr>
              <a:t>The tree also finds many frauds, but it produces even more false alarms and has the weakest F1-score.</a:t>
            </a:r>
            <a:endParaRPr lang="en-US" sz="1500">
              <a:ea typeface="Calibri"/>
              <a:cs typeface="Calibri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029200" y="960120"/>
            <a:ext cx="6629400" cy="5440680"/>
          </a:xfrm>
          <a:prstGeom prst="roundRect">
            <a:avLst>
              <a:gd name="adj" fmla="val 67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1143000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6324F"/>
                </a:solidFill>
              </a:rPr>
              <a:t>Confusion matrix</a:t>
            </a:r>
            <a:endParaRPr lang="en-US" sz="2000"/>
          </a:p>
        </p:txBody>
      </p:sp>
      <p:pic>
        <p:nvPicPr>
          <p:cNvPr id="25" name="Picture 24" descr="A chart of a logistic regression&#10;&#10;AI-generated content may be incorrect.">
            <a:extLst>
              <a:ext uri="{FF2B5EF4-FFF2-40B4-BE49-F238E27FC236}">
                <a16:creationId xmlns:a16="http://schemas.microsoft.com/office/drawing/2014/main" id="{D8A79471-57F6-70F2-E971-FF6887185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400" y="1033463"/>
            <a:ext cx="6467475" cy="527685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AE813B7-AF56-B3D5-7CF4-075A3657F0B5}"/>
              </a:ext>
            </a:extLst>
          </p:cNvPr>
          <p:cNvSpPr txBox="1"/>
          <p:nvPr/>
        </p:nvSpPr>
        <p:spPr>
          <a:xfrm>
            <a:off x="5929032" y="1033956"/>
            <a:ext cx="4311138" cy="369332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ea typeface="Calibri"/>
                <a:cs typeface="Calibri"/>
              </a:rPr>
              <a:t>Confusion Matrix - Decision Tree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79" y="83674"/>
            <a:ext cx="7150692" cy="3969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600" b="1">
                <a:solidFill>
                  <a:srgbClr val="FFFFFF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Modeling &amp; Evaluation : Model 3 - Random Forest</a:t>
            </a:r>
            <a:endParaRPr lang="en-US" sz="2600">
              <a:latin typeface="Aptos Display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6510528"/>
            <a:ext cx="3840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</a:rPr>
              <a:t>DATA 3421 Final Project • Group 19</a:t>
            </a:r>
            <a:endParaRPr lang="en-US" sz="1000"/>
          </a:p>
        </p:txBody>
      </p:sp>
      <p:sp>
        <p:nvSpPr>
          <p:cNvPr id="6" name="Shape 4"/>
          <p:cNvSpPr/>
          <p:nvPr/>
        </p:nvSpPr>
        <p:spPr>
          <a:xfrm>
            <a:off x="502920" y="960120"/>
            <a:ext cx="4206240" cy="5440680"/>
          </a:xfrm>
          <a:prstGeom prst="roundRect">
            <a:avLst>
              <a:gd name="adj" fmla="val 87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43000"/>
            <a:ext cx="2377440" cy="2194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6324F"/>
                </a:solidFill>
              </a:rPr>
              <a:t>Test-set Metrics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822960" y="164592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334155"/>
                </a:solidFill>
              </a:rPr>
              <a:t>Accuracy</a:t>
            </a:r>
            <a:endParaRPr lang="en-US" sz="1700"/>
          </a:p>
        </p:txBody>
      </p:sp>
      <p:sp>
        <p:nvSpPr>
          <p:cNvPr id="9" name="Text 7"/>
          <p:cNvSpPr/>
          <p:nvPr/>
        </p:nvSpPr>
        <p:spPr>
          <a:xfrm>
            <a:off x="2697480" y="160934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>
                <a:solidFill>
                  <a:srgbClr val="334155"/>
                </a:solidFill>
              </a:rPr>
              <a:t>0.9995</a:t>
            </a:r>
            <a:endParaRPr lang="en-US" sz="2300"/>
          </a:p>
        </p:txBody>
      </p:sp>
      <p:sp>
        <p:nvSpPr>
          <p:cNvPr id="10" name="Text 8"/>
          <p:cNvSpPr/>
          <p:nvPr/>
        </p:nvSpPr>
        <p:spPr>
          <a:xfrm>
            <a:off x="822960" y="226771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334155"/>
                </a:solidFill>
              </a:rPr>
              <a:t>Precision</a:t>
            </a:r>
            <a:endParaRPr lang="en-US" sz="1700"/>
          </a:p>
        </p:txBody>
      </p:sp>
      <p:sp>
        <p:nvSpPr>
          <p:cNvPr id="11" name="Text 9"/>
          <p:cNvSpPr/>
          <p:nvPr/>
        </p:nvSpPr>
        <p:spPr>
          <a:xfrm>
            <a:off x="2697480" y="223113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>
                <a:solidFill>
                  <a:srgbClr val="DC2626"/>
                </a:solidFill>
              </a:rPr>
              <a:t>0.9710</a:t>
            </a:r>
            <a:endParaRPr lang="en-US" sz="2300"/>
          </a:p>
        </p:txBody>
      </p:sp>
      <p:sp>
        <p:nvSpPr>
          <p:cNvPr id="12" name="Text 10"/>
          <p:cNvSpPr/>
          <p:nvPr/>
        </p:nvSpPr>
        <p:spPr>
          <a:xfrm>
            <a:off x="822960" y="2889504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334155"/>
                </a:solidFill>
              </a:rPr>
              <a:t>Recall</a:t>
            </a:r>
            <a:endParaRPr lang="en-US" sz="1700"/>
          </a:p>
        </p:txBody>
      </p:sp>
      <p:sp>
        <p:nvSpPr>
          <p:cNvPr id="13" name="Text 11"/>
          <p:cNvSpPr/>
          <p:nvPr/>
        </p:nvSpPr>
        <p:spPr>
          <a:xfrm>
            <a:off x="2697480" y="285292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>
                <a:solidFill>
                  <a:srgbClr val="D97706"/>
                </a:solidFill>
              </a:rPr>
              <a:t>0.7053</a:t>
            </a:r>
            <a:endParaRPr lang="en-US" sz="2300"/>
          </a:p>
        </p:txBody>
      </p:sp>
      <p:sp>
        <p:nvSpPr>
          <p:cNvPr id="14" name="Text 12"/>
          <p:cNvSpPr/>
          <p:nvPr/>
        </p:nvSpPr>
        <p:spPr>
          <a:xfrm>
            <a:off x="822960" y="351129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334155"/>
                </a:solidFill>
              </a:rPr>
              <a:t>F1-score</a:t>
            </a:r>
            <a:endParaRPr lang="en-US" sz="1700"/>
          </a:p>
        </p:txBody>
      </p:sp>
      <p:sp>
        <p:nvSpPr>
          <p:cNvPr id="15" name="Text 13"/>
          <p:cNvSpPr/>
          <p:nvPr/>
        </p:nvSpPr>
        <p:spPr>
          <a:xfrm>
            <a:off x="2697480" y="347472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>
                <a:solidFill>
                  <a:srgbClr val="2A9D8F"/>
                </a:solidFill>
              </a:rPr>
              <a:t>0.8171</a:t>
            </a:r>
            <a:endParaRPr lang="en-US" sz="2300"/>
          </a:p>
        </p:txBody>
      </p:sp>
      <p:sp>
        <p:nvSpPr>
          <p:cNvPr id="16" name="Text 14"/>
          <p:cNvSpPr/>
          <p:nvPr/>
        </p:nvSpPr>
        <p:spPr>
          <a:xfrm>
            <a:off x="822960" y="413308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334155"/>
                </a:solidFill>
              </a:rPr>
              <a:t>ROC-AUC</a:t>
            </a:r>
            <a:endParaRPr lang="en-US" sz="1700"/>
          </a:p>
        </p:txBody>
      </p:sp>
      <p:sp>
        <p:nvSpPr>
          <p:cNvPr id="17" name="Text 15"/>
          <p:cNvSpPr/>
          <p:nvPr/>
        </p:nvSpPr>
        <p:spPr>
          <a:xfrm>
            <a:off x="2697480" y="409651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>
                <a:solidFill>
                  <a:srgbClr val="2563EB"/>
                </a:solidFill>
              </a:rPr>
              <a:t>0.9246</a:t>
            </a:r>
            <a:endParaRPr lang="en-US" sz="2300"/>
          </a:p>
        </p:txBody>
      </p:sp>
      <p:sp>
        <p:nvSpPr>
          <p:cNvPr id="18" name="Shape 16"/>
          <p:cNvSpPr/>
          <p:nvPr/>
        </p:nvSpPr>
        <p:spPr>
          <a:xfrm>
            <a:off x="749808" y="4983480"/>
            <a:ext cx="361188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9808" y="4983480"/>
            <a:ext cx="146304" cy="9601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408" y="4987290"/>
            <a:ext cx="3387090" cy="9601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600" b="1">
                <a:solidFill>
                  <a:srgbClr val="15803D"/>
                </a:solidFill>
                <a:ea typeface="Calibri"/>
                <a:cs typeface="Calibri"/>
              </a:rPr>
              <a:t>Interpretation</a:t>
            </a:r>
            <a:endParaRPr lang="en-US" sz="1600">
              <a:solidFill>
                <a:srgbClr val="000000"/>
              </a:solidFill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500">
                <a:solidFill>
                  <a:srgbClr val="334155"/>
                </a:solidFill>
              </a:rPr>
              <a:t>Random Forest gives the strongest balance: very high precision with solid recall, producing the best F1-score.</a:t>
            </a:r>
            <a:endParaRPr lang="en-US" sz="1500">
              <a:ea typeface="Calibri"/>
              <a:cs typeface="Calibri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029200" y="960120"/>
            <a:ext cx="6629400" cy="5440680"/>
          </a:xfrm>
          <a:prstGeom prst="roundRect">
            <a:avLst>
              <a:gd name="adj" fmla="val 67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1143000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6324F"/>
                </a:solidFill>
              </a:rPr>
              <a:t>Confusion matrix</a:t>
            </a:r>
            <a:endParaRPr lang="en-US" sz="2000"/>
          </a:p>
        </p:txBody>
      </p:sp>
      <p:pic>
        <p:nvPicPr>
          <p:cNvPr id="5" name="Picture 4" descr="A chart of a logistic regression&#10;&#10;AI-generated content may be incorrect.">
            <a:extLst>
              <a:ext uri="{FF2B5EF4-FFF2-40B4-BE49-F238E27FC236}">
                <a16:creationId xmlns:a16="http://schemas.microsoft.com/office/drawing/2014/main" id="{3027D826-B282-9502-013B-5A3E4AE67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3025" y="1033463"/>
            <a:ext cx="6419850" cy="536257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4C04304-A4AD-6B33-A500-D5AC5F6AB68F}"/>
              </a:ext>
            </a:extLst>
          </p:cNvPr>
          <p:cNvSpPr txBox="1"/>
          <p:nvPr/>
        </p:nvSpPr>
        <p:spPr>
          <a:xfrm>
            <a:off x="5795682" y="1033956"/>
            <a:ext cx="4311138" cy="369332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ea typeface="Calibri"/>
                <a:cs typeface="Calibri"/>
              </a:rPr>
              <a:t>Confusion Matrix - Random Forest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2359"/>
            <a:ext cx="7776992" cy="44909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600" b="1">
                <a:solidFill>
                  <a:srgbClr val="FFFFFF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Modeling &amp; Evaluation : Model Comparison Summary</a:t>
            </a:r>
            <a:endParaRPr lang="en-US" sz="2600">
              <a:latin typeface="Aptos Display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6510528"/>
            <a:ext cx="3840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</a:rPr>
              <a:t>DATA 3421 Final Project • Group 19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11338560" y="649224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748B"/>
                </a:solidFill>
              </a:rPr>
              <a:t>15</a:t>
            </a:r>
            <a:endParaRPr lang="en-US" sz="100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6583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334155"/>
                </a:solidFill>
              </a:rPr>
              <a:t>The best model should balance fraud detection with false-alarm control.</a:t>
            </a:r>
            <a:endParaRPr lang="en-US" sz="200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068431"/>
              </p:ext>
            </p:extLst>
          </p:nvPr>
        </p:nvGraphicFramePr>
        <p:xfrm>
          <a:off x="731520" y="1463040"/>
          <a:ext cx="10270099" cy="2937000"/>
        </p:xfrm>
        <a:graphic>
          <a:graphicData uri="http://schemas.openxmlformats.org/drawingml/2006/table">
            <a:tbl>
              <a:tblPr/>
              <a:tblGrid>
                <a:gridCol w="305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35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5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35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35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35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342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16324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</a:t>
                      </a:r>
                      <a:endParaRPr lang="en-US" sz="18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16324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Accuracy</a:t>
                      </a:r>
                      <a:endParaRPr lang="en-US" sz="18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16324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Precision</a:t>
                      </a:r>
                      <a:endParaRPr lang="en-US" sz="18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16324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Recall</a:t>
                      </a:r>
                      <a:endParaRPr lang="en-US" sz="18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16324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F1-score</a:t>
                      </a:r>
                      <a:endParaRPr lang="en-US" sz="18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16324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ROC-AUC</a:t>
                      </a:r>
                      <a:endParaRPr lang="en-US" sz="18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42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Random Forest</a:t>
                      </a:r>
                      <a:endParaRPr lang="en-US" sz="18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0.9995</a:t>
                      </a:r>
                      <a:endParaRPr lang="en-US" sz="18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0.9710</a:t>
                      </a:r>
                      <a:endParaRPr lang="en-US" sz="18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0.7053</a:t>
                      </a:r>
                      <a:endParaRPr lang="en-US" sz="18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0.8171</a:t>
                      </a:r>
                      <a:endParaRPr lang="en-US" sz="18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0.9246</a:t>
                      </a:r>
                      <a:endParaRPr lang="en-US" sz="18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42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Logistic Regression</a:t>
                      </a:r>
                      <a:endParaRPr lang="en-US" sz="18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0.9752</a:t>
                      </a:r>
                      <a:endParaRPr lang="en-US" sz="18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0.0562</a:t>
                      </a:r>
                      <a:endParaRPr lang="en-US" sz="18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0.8737</a:t>
                      </a:r>
                      <a:endParaRPr lang="en-US" sz="18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0.1057</a:t>
                      </a:r>
                      <a:endParaRPr lang="en-US" sz="18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0.9658</a:t>
                      </a:r>
                      <a:endParaRPr lang="en-US" sz="18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42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Decision Tree</a:t>
                      </a:r>
                      <a:endParaRPr lang="en-US" sz="18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0.9644</a:t>
                      </a:r>
                      <a:endParaRPr lang="en-US" sz="18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0.0388</a:t>
                      </a:r>
                      <a:endParaRPr lang="en-US" sz="18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0.8526</a:t>
                      </a:r>
                      <a:endParaRPr lang="en-US" sz="18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0.0743</a:t>
                      </a:r>
                      <a:endParaRPr lang="en-US" sz="18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0.9061</a:t>
                      </a:r>
                      <a:endParaRPr lang="en-US" sz="18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68680" y="4937760"/>
            <a:ext cx="101498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68680" y="4937760"/>
            <a:ext cx="146304" cy="8229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97280" y="5047488"/>
            <a:ext cx="9829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5803D"/>
                </a:solidFill>
              </a:rPr>
              <a:t>Decision</a:t>
            </a:r>
            <a:endParaRPr lang="en-US" sz="1600"/>
          </a:p>
        </p:txBody>
      </p:sp>
      <p:sp>
        <p:nvSpPr>
          <p:cNvPr id="11" name="Text 8"/>
          <p:cNvSpPr/>
          <p:nvPr/>
        </p:nvSpPr>
        <p:spPr>
          <a:xfrm>
            <a:off x="1097280" y="5303520"/>
            <a:ext cx="9829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334155"/>
                </a:solidFill>
              </a:rPr>
              <a:t>Random Forest is the best overall model because it achieved the highest F1-score and extremely high precision while still identifying most fraud cases.</a:t>
            </a:r>
            <a:endParaRPr lang="en-US" sz="15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7181"/>
            <a:ext cx="7223760" cy="2194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600" b="1">
                <a:solidFill>
                  <a:srgbClr val="FFFFFF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Modeling &amp; Evaluation : Why Random Forest Won</a:t>
            </a:r>
            <a:endParaRPr lang="en-US" sz="2600">
              <a:latin typeface="Aptos Display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6510528"/>
            <a:ext cx="3840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</a:rPr>
              <a:t>DATA 3421 Final Project • Group 19</a:t>
            </a:r>
            <a:endParaRPr lang="en-US" sz="1000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4663440" cy="4937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210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 has the highest recall, but precision is too low for practical use.
</a:t>
            </a:r>
            <a:endParaRPr lang="en-US" sz="2100"/>
          </a:p>
          <a:p>
            <a:pPr marL="177800" indent="-177800">
              <a:buSzPct val="100000"/>
              <a:buChar char="•"/>
            </a:pPr>
            <a:r>
              <a:rPr lang="en-US" sz="210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Tree performs worse than Logistic Regression on precision and F1-score.
</a:t>
            </a:r>
            <a:endParaRPr lang="en-US" sz="2100"/>
          </a:p>
          <a:p>
            <a:pPr marL="177800" indent="-177800">
              <a:buSzPct val="100000"/>
              <a:buChar char="•"/>
            </a:pPr>
            <a:r>
              <a:rPr lang="en-US" sz="210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sharply reduces false positives while keeping recall at a useful level.
</a:t>
            </a:r>
            <a:endParaRPr lang="en-US" sz="2100"/>
          </a:p>
          <a:p>
            <a:pPr marL="177800" indent="-177800">
              <a:buSzPct val="100000"/>
              <a:buChar char="•"/>
            </a:pPr>
            <a:r>
              <a:rPr lang="en-US" sz="210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trade-off produces a much stronger F1-score than the other two models.</a:t>
            </a:r>
            <a:endParaRPr lang="en-US" sz="2100"/>
          </a:p>
        </p:txBody>
      </p:sp>
      <p:sp>
        <p:nvSpPr>
          <p:cNvPr id="7" name="Shape 5"/>
          <p:cNvSpPr/>
          <p:nvPr/>
        </p:nvSpPr>
        <p:spPr>
          <a:xfrm>
            <a:off x="5486400" y="960120"/>
            <a:ext cx="6172200" cy="5257800"/>
          </a:xfrm>
          <a:prstGeom prst="roundRect">
            <a:avLst>
              <a:gd name="adj" fmla="val 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/mnt/data/fraud_slides_assets/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833401"/>
            <a:ext cx="5897880" cy="324606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0" y="5806440"/>
            <a:ext cx="5760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64748B"/>
                </a:solidFill>
              </a:rPr>
              <a:t>Comparison of precision, recall, F1-score, and ROC-AUC across models.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A4B79-2D0D-F6DF-3D46-B112912AD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37F6E0A-BAF8-9D75-9845-E916E4B69928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6A4797E-7D1F-4CDA-751E-748C0A78F61D}"/>
              </a:ext>
            </a:extLst>
          </p:cNvPr>
          <p:cNvSpPr/>
          <p:nvPr/>
        </p:nvSpPr>
        <p:spPr>
          <a:xfrm>
            <a:off x="411480" y="81456"/>
            <a:ext cx="9843135" cy="40043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Modeling &amp; Evaluation : Modeling Results From </a:t>
            </a:r>
            <a:r>
              <a:rPr lang="en-US" sz="2600" b="1">
                <a:solidFill>
                  <a:srgbClr val="FFFFFF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Original to SMOTE</a:t>
            </a:r>
            <a:endParaRPr lang="en-US" sz="2600">
              <a:latin typeface="Aptos Display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8BAF5A7-A222-3C8B-8E22-655A4D63F4F9}"/>
              </a:ext>
            </a:extLst>
          </p:cNvPr>
          <p:cNvSpPr/>
          <p:nvPr/>
        </p:nvSpPr>
        <p:spPr>
          <a:xfrm>
            <a:off x="411480" y="6510528"/>
            <a:ext cx="3840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</a:rPr>
              <a:t>DATA 3421 Final Project • Group 19</a:t>
            </a:r>
            <a:endParaRPr lang="en-US" sz="100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8DE0BCF-0311-7D0D-9B11-C3B4B94900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5536746"/>
              </p:ext>
            </p:extLst>
          </p:nvPr>
        </p:nvGraphicFramePr>
        <p:xfrm>
          <a:off x="1545" y="3237779"/>
          <a:ext cx="12179226" cy="2335673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029871">
                  <a:extLst>
                    <a:ext uri="{9D8B030D-6E8A-4147-A177-3AD203B41FA5}">
                      <a16:colId xmlns:a16="http://schemas.microsoft.com/office/drawing/2014/main" val="1721915681"/>
                    </a:ext>
                  </a:extLst>
                </a:gridCol>
                <a:gridCol w="2029871">
                  <a:extLst>
                    <a:ext uri="{9D8B030D-6E8A-4147-A177-3AD203B41FA5}">
                      <a16:colId xmlns:a16="http://schemas.microsoft.com/office/drawing/2014/main" val="2659834456"/>
                    </a:ext>
                  </a:extLst>
                </a:gridCol>
                <a:gridCol w="2029871">
                  <a:extLst>
                    <a:ext uri="{9D8B030D-6E8A-4147-A177-3AD203B41FA5}">
                      <a16:colId xmlns:a16="http://schemas.microsoft.com/office/drawing/2014/main" val="2592720880"/>
                    </a:ext>
                  </a:extLst>
                </a:gridCol>
                <a:gridCol w="2029871">
                  <a:extLst>
                    <a:ext uri="{9D8B030D-6E8A-4147-A177-3AD203B41FA5}">
                      <a16:colId xmlns:a16="http://schemas.microsoft.com/office/drawing/2014/main" val="3997644305"/>
                    </a:ext>
                  </a:extLst>
                </a:gridCol>
                <a:gridCol w="2029871">
                  <a:extLst>
                    <a:ext uri="{9D8B030D-6E8A-4147-A177-3AD203B41FA5}">
                      <a16:colId xmlns:a16="http://schemas.microsoft.com/office/drawing/2014/main" val="1358874156"/>
                    </a:ext>
                  </a:extLst>
                </a:gridCol>
                <a:gridCol w="2029871">
                  <a:extLst>
                    <a:ext uri="{9D8B030D-6E8A-4147-A177-3AD203B41FA5}">
                      <a16:colId xmlns:a16="http://schemas.microsoft.com/office/drawing/2014/main" val="2436432836"/>
                    </a:ext>
                  </a:extLst>
                </a:gridCol>
              </a:tblGrid>
              <a:tr h="73722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6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Model</a:t>
                      </a:r>
                      <a:endParaRPr lang="en-US" sz="360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600" b="0" i="0" u="none" strike="noStrike" noProof="0" dirty="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36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Precision</a:t>
                      </a:r>
                      <a:endParaRPr lang="en-US" sz="360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6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Recall</a:t>
                      </a:r>
                      <a:endParaRPr lang="en-US" sz="360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6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F1-score</a:t>
                      </a:r>
                      <a:endParaRPr lang="en-US" sz="360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6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ROC-AUC</a:t>
                      </a:r>
                      <a:endParaRPr lang="en-US" sz="3600" b="0" i="0" u="none" strike="noStrike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6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Accuracy</a:t>
                      </a:r>
                      <a:endParaRPr lang="en-US" sz="3600" b="0" i="0" u="none" strike="noStrike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8877033"/>
                  </a:ext>
                </a:extLst>
              </a:tr>
              <a:tr h="46492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Decision Tree</a:t>
                      </a:r>
                      <a:endParaRPr lang="en-US" sz="2000" b="1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</a:rPr>
                        <a:t>+0.39</a:t>
                      </a:r>
                      <a:endParaRPr lang="en-US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-0.14</a:t>
                      </a:r>
                      <a:endParaRPr lang="en-US" b="1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</a:rPr>
                        <a:t>+0.46</a:t>
                      </a:r>
                      <a:endParaRPr lang="en-US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-0.05</a:t>
                      </a:r>
                      <a:endParaRPr lang="en-US" sz="1800" b="1" i="0" u="none" strike="noStrike" noProof="0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</a:rPr>
                        <a:t>0.03</a:t>
                      </a:r>
                      <a:endParaRPr lang="en-US" sz="1800" b="1" i="0" u="none" strike="noStrike" noProof="0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0488047"/>
                  </a:ext>
                </a:extLst>
              </a:tr>
              <a:tr h="43248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Logistic Regression</a:t>
                      </a:r>
                      <a:endParaRPr lang="en-US" sz="2000" b="1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0.00</a:t>
                      </a:r>
                      <a:endParaRPr lang="en-US" b="1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0.00</a:t>
                      </a:r>
                      <a:endParaRPr lang="en-US" b="1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-0.01</a:t>
                      </a:r>
                      <a:endParaRPr lang="en-US" b="1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0.00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0.00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072048"/>
                  </a:ext>
                </a:extLst>
              </a:tr>
              <a:tr h="43248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Random Forest</a:t>
                      </a:r>
                      <a:endParaRPr lang="en-US" sz="2000" b="1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-0.06</a:t>
                      </a:r>
                      <a:endParaRPr lang="en-US" b="1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</a:rPr>
                        <a:t>+0.05</a:t>
                      </a:r>
                      <a:endParaRPr lang="en-US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</a:rPr>
                        <a:t>+0.01</a:t>
                      </a:r>
                      <a:endParaRPr lang="en-US" b="1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</a:rPr>
                        <a:t>0.04</a:t>
                      </a:r>
                      <a:endParaRPr lang="en-US" sz="1800" b="1" i="0" u="none" strike="noStrike" noProof="0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0.00</a:t>
                      </a:r>
                      <a:endParaRPr lang="en-US" sz="1800" b="1" i="0" u="none" strike="noStrike" noProof="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212647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8E39825-2D13-6AD4-2163-0E0BF6A1A72D}"/>
              </a:ext>
            </a:extLst>
          </p:cNvPr>
          <p:cNvSpPr txBox="1"/>
          <p:nvPr/>
        </p:nvSpPr>
        <p:spPr>
          <a:xfrm>
            <a:off x="409575" y="1238250"/>
            <a:ext cx="3962400" cy="13388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100">
                <a:solidFill>
                  <a:srgbClr val="334155"/>
                </a:solidFill>
                <a:latin typeface="Aptos"/>
              </a:rPr>
              <a:t>Results may differ because: </a:t>
            </a:r>
          </a:p>
          <a:p>
            <a:pPr marL="342900" indent="-342900">
              <a:buFont typeface="Arial"/>
              <a:buChar char="•"/>
            </a:pPr>
            <a:r>
              <a:rPr lang="en-US" sz="2100" err="1">
                <a:solidFill>
                  <a:srgbClr val="334155"/>
                </a:solidFill>
                <a:latin typeface="Aptos"/>
              </a:rPr>
              <a:t>class_weight</a:t>
            </a:r>
            <a:r>
              <a:rPr lang="en-US" sz="2100">
                <a:solidFill>
                  <a:srgbClr val="334155"/>
                </a:solidFill>
                <a:latin typeface="Aptos"/>
              </a:rPr>
              <a:t> adjusts learning</a:t>
            </a:r>
            <a:endParaRPr lang="en-US"/>
          </a:p>
          <a:p>
            <a:pPr marL="342900" indent="-342900">
              <a:buFont typeface="Arial"/>
              <a:buChar char="•"/>
            </a:pPr>
            <a:r>
              <a:rPr lang="en-US" sz="2100">
                <a:solidFill>
                  <a:srgbClr val="334155"/>
                </a:solidFill>
                <a:latin typeface="Aptos"/>
                <a:ea typeface="Calibri" panose="020F0502020204030204"/>
                <a:cs typeface="Calibri" panose="020F0502020204030204"/>
              </a:rPr>
              <a:t>SMOTE changes the data</a:t>
            </a:r>
          </a:p>
          <a:p>
            <a:pPr algn="ctr"/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617F1F-3861-41CC-F76A-ADD665764DB9}"/>
              </a:ext>
            </a:extLst>
          </p:cNvPr>
          <p:cNvSpPr txBox="1"/>
          <p:nvPr/>
        </p:nvSpPr>
        <p:spPr>
          <a:xfrm>
            <a:off x="3293380" y="5656889"/>
            <a:ext cx="560405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0B050"/>
                </a:solidFill>
                <a:ea typeface="Calibri"/>
                <a:cs typeface="Calibri"/>
              </a:rPr>
              <a:t>Green – Increase From Original</a:t>
            </a:r>
          </a:p>
          <a:p>
            <a:r>
              <a:rPr lang="en-US">
                <a:solidFill>
                  <a:srgbClr val="FF0000"/>
                </a:solidFill>
                <a:ea typeface="Calibri"/>
                <a:cs typeface="Calibri"/>
              </a:rPr>
              <a:t>Red – Decrease From Original</a:t>
            </a:r>
          </a:p>
          <a:p>
            <a:r>
              <a:rPr lang="en-US" dirty="0">
                <a:ea typeface="Calibri"/>
                <a:cs typeface="Calibri"/>
              </a:rPr>
              <a:t>Black – No Change / Negligible </a:t>
            </a:r>
            <a:r>
              <a:rPr lang="en-US">
                <a:ea typeface="Calibri"/>
                <a:cs typeface="Calibri"/>
              </a:rPr>
              <a:t>Change From Original</a:t>
            </a:r>
            <a:endParaRPr lang="en-US" dirty="0">
              <a:ea typeface="Calibri"/>
              <a:cs typeface="Calibri"/>
            </a:endParaRPr>
          </a:p>
        </p:txBody>
      </p:sp>
      <p:pic>
        <p:nvPicPr>
          <p:cNvPr id="7" name="Picture 6" descr="A comparison of a bar graph&#10;&#10;AI-generated content may be incorrect.">
            <a:extLst>
              <a:ext uri="{FF2B5EF4-FFF2-40B4-BE49-F238E27FC236}">
                <a16:creationId xmlns:a16="http://schemas.microsoft.com/office/drawing/2014/main" id="{B27FB646-94EF-593D-22B6-6C990F3DE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400" y="576263"/>
            <a:ext cx="6848475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5706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79E77-9063-EDE9-ED09-DBFCD0E80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06BD0BC-3949-953C-D3DF-7E668AF82D42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AF9273A-056D-9BCF-0BEB-7FFBDB690EF6}"/>
              </a:ext>
            </a:extLst>
          </p:cNvPr>
          <p:cNvSpPr/>
          <p:nvPr/>
        </p:nvSpPr>
        <p:spPr>
          <a:xfrm>
            <a:off x="411480" y="105397"/>
            <a:ext cx="9293516" cy="353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600" b="1">
                <a:solidFill>
                  <a:srgbClr val="FFFFFF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Modeling &amp; Evaluation : Final Decision With SMOTE Unchanged</a:t>
            </a:r>
            <a:endParaRPr lang="en-US" sz="2600">
              <a:latin typeface="Aptos Display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00EBCA3-DA5B-8A6E-1645-F0753ACB2485}"/>
              </a:ext>
            </a:extLst>
          </p:cNvPr>
          <p:cNvSpPr/>
          <p:nvPr/>
        </p:nvSpPr>
        <p:spPr>
          <a:xfrm>
            <a:off x="411480" y="6510528"/>
            <a:ext cx="3840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</a:rPr>
              <a:t>DATA 3421 Final Project • Group 19</a:t>
            </a:r>
            <a:endParaRPr lang="en-US" sz="1000"/>
          </a:p>
        </p:txBody>
      </p:sp>
      <p:pic>
        <p:nvPicPr>
          <p:cNvPr id="6" name="Picture 5" descr="A graph of blue and orange bars&#10;&#10;AI-generated content may be incorrect.">
            <a:extLst>
              <a:ext uri="{FF2B5EF4-FFF2-40B4-BE49-F238E27FC236}">
                <a16:creationId xmlns:a16="http://schemas.microsoft.com/office/drawing/2014/main" id="{4276298D-FAA2-7FDA-599F-673BB95A4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76" y="569956"/>
            <a:ext cx="6104496" cy="30649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 descr="A graph with blue and orange bars&#10;&#10;AI-generated content may be incorrect.">
            <a:extLst>
              <a:ext uri="{FF2B5EF4-FFF2-40B4-BE49-F238E27FC236}">
                <a16:creationId xmlns:a16="http://schemas.microsoft.com/office/drawing/2014/main" id="{55A5B460-C77F-6ECC-E93F-0C761EDDD0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7286" y="565191"/>
            <a:ext cx="6093427" cy="30649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6B205F6E-C35C-702C-4535-7F6D9DEC0B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" y="3641381"/>
            <a:ext cx="6094971" cy="32173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256B470E-C933-8EBE-BD20-2B1D0F6BC1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515" y="3638164"/>
            <a:ext cx="6094970" cy="322382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59493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2359"/>
            <a:ext cx="10292636" cy="44909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600" b="1">
                <a:solidFill>
                  <a:srgbClr val="FFFFFF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Interpretations &amp; Conclusion : Discussion - Limitations &amp; Improvements</a:t>
            </a:r>
            <a:endParaRPr lang="en-US" sz="2600">
              <a:latin typeface="Aptos Display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6510528"/>
            <a:ext cx="3840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</a:rPr>
              <a:t>DATA 3421 Final Project • Group 19</a:t>
            </a:r>
            <a:endParaRPr lang="en-US" sz="1000"/>
          </a:p>
        </p:txBody>
      </p:sp>
      <p:sp>
        <p:nvSpPr>
          <p:cNvPr id="6" name="Shape 4"/>
          <p:cNvSpPr/>
          <p:nvPr/>
        </p:nvSpPr>
        <p:spPr>
          <a:xfrm>
            <a:off x="685800" y="1143000"/>
            <a:ext cx="5303520" cy="5074920"/>
          </a:xfrm>
          <a:prstGeom prst="roundRect">
            <a:avLst>
              <a:gd name="adj" fmla="val 7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1143000"/>
            <a:ext cx="5303520" cy="5074920"/>
          </a:xfrm>
          <a:prstGeom prst="roundRect">
            <a:avLst>
              <a:gd name="adj" fmla="val 7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02290" y="1531647"/>
            <a:ext cx="4480560" cy="431020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>
              <a:buSzPct val="100000"/>
            </a:pPr>
            <a:r>
              <a:rPr lang="en-US" sz="2100" b="1" u="sng">
                <a:solidFill>
                  <a:srgbClr val="DC2626"/>
                </a:solidFill>
                <a:latin typeface="Aptos"/>
                <a:ea typeface="Aptos" pitchFamily="34" charset="-122"/>
                <a:cs typeface="Aptos" pitchFamily="34" charset="-120"/>
              </a:rPr>
              <a:t>Current limitations</a:t>
            </a:r>
            <a:endParaRPr lang="en-US" sz="2100" u="sng">
              <a:solidFill>
                <a:srgbClr val="000000"/>
              </a:solidFill>
              <a:latin typeface="Aptos"/>
              <a:ea typeface="Aptos" pitchFamily="34" charset="-122"/>
              <a:cs typeface="Aptos" pitchFamily="34" charset="-120"/>
            </a:endParaRPr>
          </a:p>
          <a:p>
            <a:endParaRPr lang="en-US" sz="2100" b="1" u="sng">
              <a:solidFill>
                <a:srgbClr val="DC2626"/>
              </a:solidFill>
              <a:latin typeface="Aptos"/>
              <a:ea typeface="Aptos" pitchFamily="34" charset="-122"/>
              <a:cs typeface="Aptos" pitchFamily="34" charset="-120"/>
            </a:endParaRPr>
          </a:p>
          <a:p>
            <a:pPr marL="177800" indent="-177800">
              <a:buSzPct val="100000"/>
              <a:buChar char="•"/>
            </a:pPr>
            <a:r>
              <a:rPr lang="en-US" sz="1800">
                <a:solidFill>
                  <a:srgbClr val="334155"/>
                </a:solidFill>
                <a:latin typeface="Aptos"/>
                <a:ea typeface="Aptos" pitchFamily="34" charset="-122"/>
                <a:cs typeface="Aptos" pitchFamily="34" charset="-120"/>
              </a:rPr>
              <a:t>The dataset is already anonymized, so feature interpretation is limited.
</a:t>
            </a:r>
            <a:endParaRPr lang="en-US" sz="1800">
              <a:latin typeface="Aptos"/>
            </a:endParaRPr>
          </a:p>
          <a:p>
            <a:pPr marL="177800" indent="-177800">
              <a:buSzPct val="100000"/>
              <a:buChar char="•"/>
            </a:pPr>
            <a:r>
              <a:rPr lang="en-US" sz="1800">
                <a:solidFill>
                  <a:srgbClr val="334155"/>
                </a:solidFill>
                <a:latin typeface="Aptos"/>
                <a:ea typeface="Aptos" pitchFamily="34" charset="-122"/>
                <a:cs typeface="Aptos" pitchFamily="34" charset="-120"/>
              </a:rPr>
              <a:t>Only three supervised models were tested in this presentation</a:t>
            </a:r>
            <a:r>
              <a:rPr lang="en-US">
                <a:solidFill>
                  <a:srgbClr val="334155"/>
                </a:solidFill>
                <a:latin typeface="Aptos"/>
                <a:ea typeface="Aptos" pitchFamily="34" charset="-122"/>
                <a:cs typeface="Aptos" pitchFamily="34" charset="-120"/>
              </a:rPr>
              <a:t>.</a:t>
            </a:r>
            <a:r>
              <a:rPr lang="en-US" sz="1800">
                <a:solidFill>
                  <a:srgbClr val="334155"/>
                </a:solidFill>
                <a:latin typeface="Aptos"/>
                <a:ea typeface="Aptos" pitchFamily="34" charset="-122"/>
                <a:cs typeface="Aptos" pitchFamily="34" charset="-120"/>
              </a:rPr>
              <a:t>
</a:t>
            </a:r>
            <a:endParaRPr lang="en-US" sz="1800">
              <a:latin typeface="Aptos"/>
            </a:endParaRPr>
          </a:p>
          <a:p>
            <a:pPr marL="177800" indent="-177800">
              <a:buSzPct val="100000"/>
              <a:buChar char="•"/>
            </a:pPr>
            <a:r>
              <a:rPr lang="en-US" sz="180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 tuning was not explored, even though it can improve fraud-recall trade-offs.</a:t>
            </a:r>
            <a:endParaRPr lang="en-US" sz="1800"/>
          </a:p>
        </p:txBody>
      </p:sp>
      <p:sp>
        <p:nvSpPr>
          <p:cNvPr id="11" name="Text 9"/>
          <p:cNvSpPr/>
          <p:nvPr/>
        </p:nvSpPr>
        <p:spPr>
          <a:xfrm>
            <a:off x="6634410" y="1762203"/>
            <a:ext cx="448056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>
              <a:buSzPct val="100000"/>
            </a:pPr>
            <a:r>
              <a:rPr lang="en-US" sz="2100" b="1" u="sng">
                <a:solidFill>
                  <a:srgbClr val="15803D"/>
                </a:solidFill>
                <a:latin typeface="Aptos"/>
                <a:ea typeface="Aptos" pitchFamily="34" charset="-122"/>
                <a:cs typeface="Aptos" pitchFamily="34" charset="-120"/>
              </a:rPr>
              <a:t>Possible next steps</a:t>
            </a:r>
            <a:r>
              <a:rPr lang="en-US" sz="1800" dirty="0">
                <a:solidFill>
                  <a:srgbClr val="334155"/>
                </a:solidFill>
                <a:latin typeface="Aptos"/>
                <a:ea typeface="Aptos" pitchFamily="34" charset="-122"/>
                <a:cs typeface="Aptos" pitchFamily="34" charset="-120"/>
              </a:rPr>
              <a:t>
</a:t>
            </a:r>
            <a:endParaRPr lang="en-US" sz="1800">
              <a:latin typeface="Aptos"/>
            </a:endParaRPr>
          </a:p>
          <a:p>
            <a:pPr marL="177800" indent="-177800">
              <a:buSzPct val="100000"/>
              <a:buChar char="•"/>
            </a:pPr>
            <a:r>
              <a:rPr lang="en-US" sz="1800">
                <a:solidFill>
                  <a:srgbClr val="334155"/>
                </a:solidFill>
                <a:latin typeface="Aptos"/>
                <a:ea typeface="Aptos" pitchFamily="34" charset="-122"/>
                <a:cs typeface="Aptos" pitchFamily="34" charset="-120"/>
              </a:rPr>
              <a:t>Try gradient boosting methods or anomaly detection models.</a:t>
            </a:r>
            <a:r>
              <a:rPr lang="en-US" sz="1800" dirty="0">
                <a:solidFill>
                  <a:srgbClr val="334155"/>
                </a:solidFill>
                <a:latin typeface="Aptos"/>
                <a:ea typeface="Aptos" pitchFamily="34" charset="-122"/>
                <a:cs typeface="Aptos" pitchFamily="34" charset="-120"/>
              </a:rPr>
              <a:t>
</a:t>
            </a:r>
            <a:endParaRPr lang="en-US" sz="1800" dirty="0">
              <a:latin typeface="Aptos"/>
            </a:endParaRPr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/>
                <a:ea typeface="Aptos" pitchFamily="34" charset="-122"/>
                <a:cs typeface="Aptos" pitchFamily="34" charset="-120"/>
              </a:rPr>
              <a:t>Tune hyperparameters more systematically.
</a:t>
            </a:r>
            <a:endParaRPr lang="en-US" sz="1800" dirty="0">
              <a:latin typeface="Aptos"/>
            </a:endParaRPr>
          </a:p>
          <a:p>
            <a:pPr marL="177800" indent="-177800">
              <a:buSzPct val="100000"/>
              <a:buChar char="•"/>
            </a:pPr>
            <a:r>
              <a:rPr lang="en-US" sz="180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precision-recall curves to choose the best probability threshold for deployment.</a:t>
            </a:r>
            <a:endParaRPr lang="en-US"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7181"/>
            <a:ext cx="7223760" cy="2194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600" b="1">
                <a:solidFill>
                  <a:srgbClr val="FFFFFF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Interpretations &amp; Conclusion : Conclusion</a:t>
            </a:r>
            <a:endParaRPr lang="en-US" sz="2600">
              <a:latin typeface="Aptos Display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6510528"/>
            <a:ext cx="3840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</a:rPr>
              <a:t>DATA 3421 Final Project • Group 19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411899" y="937834"/>
            <a:ext cx="5968024" cy="52160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>
              <a:buSzPct val="100000"/>
            </a:pPr>
            <a:r>
              <a:rPr lang="en-US" sz="2400" b="1">
                <a:solidFill>
                  <a:srgbClr val="2A9D8F"/>
                </a:solidFill>
                <a:latin typeface="Aptos"/>
                <a:ea typeface="Aptos" pitchFamily="34" charset="-122"/>
                <a:cs typeface="Aptos" pitchFamily="34" charset="-120"/>
              </a:rPr>
              <a:t>Among the three models tested, Random Forest performed best for this dataset.</a:t>
            </a:r>
            <a:endParaRPr lang="en-US" sz="2000">
              <a:solidFill>
                <a:srgbClr val="334155"/>
              </a:solidFill>
              <a:latin typeface="Aptos"/>
              <a:ea typeface="Aptos" pitchFamily="34" charset="-122"/>
              <a:cs typeface="Aptos" pitchFamily="34" charset="-120"/>
            </a:endParaRPr>
          </a:p>
          <a:p>
            <a:endParaRPr lang="en-US" sz="2400" b="1">
              <a:solidFill>
                <a:srgbClr val="2A9D8F"/>
              </a:solidFill>
              <a:latin typeface="Aptos"/>
              <a:ea typeface="Aptos" pitchFamily="34" charset="-122"/>
              <a:cs typeface="Aptos" pitchFamily="34" charset="-120"/>
            </a:endParaRPr>
          </a:p>
          <a:p>
            <a:pPr marL="177800" indent="-177800">
              <a:buSzPct val="100000"/>
              <a:buChar char="•"/>
            </a:pPr>
            <a:r>
              <a:rPr lang="en-US" sz="2000">
                <a:solidFill>
                  <a:srgbClr val="334155"/>
                </a:solidFill>
                <a:latin typeface="Aptos"/>
                <a:ea typeface="Aptos" pitchFamily="34" charset="-122"/>
                <a:cs typeface="Aptos" pitchFamily="34" charset="-120"/>
              </a:rPr>
              <a:t>The dataset had no missing values, but it did have duplicate rows that were removed.
</a:t>
            </a:r>
            <a:endParaRPr lang="en-US" sz="2000">
              <a:latin typeface="Aptos"/>
            </a:endParaRPr>
          </a:p>
          <a:p>
            <a:pPr marL="177800" indent="-177800">
              <a:buSzPct val="100000"/>
              <a:buChar char="•"/>
            </a:pPr>
            <a:r>
              <a:rPr lang="en-US" sz="2000">
                <a:solidFill>
                  <a:srgbClr val="334155"/>
                </a:solidFill>
                <a:latin typeface="Aptos"/>
                <a:ea typeface="Aptos" pitchFamily="34" charset="-122"/>
                <a:cs typeface="Aptos" pitchFamily="34" charset="-120"/>
              </a:rPr>
              <a:t>Fraud detection was challenging because the fraud class represented only 0.16671% of transactions after cleaning.
</a:t>
            </a:r>
            <a:endParaRPr lang="en-US" sz="2000">
              <a:latin typeface="Aptos"/>
            </a:endParaRPr>
          </a:p>
          <a:p>
            <a:pPr marL="177800" indent="-177800">
              <a:buSzPct val="100000"/>
              <a:buChar char="•"/>
            </a:pPr>
            <a:r>
              <a:rPr lang="en-US" sz="2000">
                <a:solidFill>
                  <a:srgbClr val="334155"/>
                </a:solidFill>
                <a:latin typeface="Aptos"/>
                <a:ea typeface="Aptos" pitchFamily="34" charset="-122"/>
                <a:cs typeface="Aptos" pitchFamily="34" charset="-120"/>
              </a:rPr>
              <a:t>Random Forest delivered the best balance of precision and recall, leading to the highest F1-score.
</a:t>
            </a:r>
            <a:endParaRPr lang="en-US" sz="2000">
              <a:latin typeface="Aptos"/>
            </a:endParaRPr>
          </a:p>
          <a:p>
            <a:pPr marL="177800" indent="-177800">
              <a:buSzPct val="100000"/>
              <a:buChar char="•"/>
            </a:pPr>
            <a:r>
              <a:rPr lang="en-US" sz="200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suggests that an ensemble approach is more effective than a simple linear model or a single decision tree for this problem.</a:t>
            </a:r>
            <a:endParaRPr lang="en-US" sz="2000"/>
          </a:p>
        </p:txBody>
      </p:sp>
      <p:sp>
        <p:nvSpPr>
          <p:cNvPr id="13" name="Shape 11"/>
          <p:cNvSpPr/>
          <p:nvPr/>
        </p:nvSpPr>
        <p:spPr>
          <a:xfrm>
            <a:off x="6720840" y="1097280"/>
            <a:ext cx="4892040" cy="5120640"/>
          </a:xfrm>
          <a:prstGeom prst="roundRect">
            <a:avLst>
              <a:gd name="adj" fmla="val 7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34325" y="1341120"/>
            <a:ext cx="2468880" cy="62979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16324F"/>
                </a:solidFill>
              </a:rPr>
              <a:t>Recommended Model</a:t>
            </a:r>
            <a:endParaRPr lang="en-US" sz="2100"/>
          </a:p>
        </p:txBody>
      </p:sp>
      <p:sp>
        <p:nvSpPr>
          <p:cNvPr id="15" name="Shape 13"/>
          <p:cNvSpPr/>
          <p:nvPr/>
        </p:nvSpPr>
        <p:spPr>
          <a:xfrm>
            <a:off x="7286625" y="2251710"/>
            <a:ext cx="3749040" cy="914400"/>
          </a:xfrm>
          <a:prstGeom prst="roundRect">
            <a:avLst>
              <a:gd name="adj" fmla="val 9000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79030" y="2582799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</a:rPr>
              <a:t>Random Forest</a:t>
            </a:r>
            <a:endParaRPr lang="en-US" sz="2800"/>
          </a:p>
        </p:txBody>
      </p:sp>
      <p:sp>
        <p:nvSpPr>
          <p:cNvPr id="17" name="Text 15"/>
          <p:cNvSpPr/>
          <p:nvPr/>
        </p:nvSpPr>
        <p:spPr>
          <a:xfrm>
            <a:off x="7086600" y="3337560"/>
            <a:ext cx="2468880" cy="2011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900" b="1">
              <a:solidFill>
                <a:srgbClr val="2A9D8F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6724650" y="3543300"/>
            <a:ext cx="4884420" cy="13582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900" b="1" u="sng">
                <a:solidFill>
                  <a:srgbClr val="2A9D8F"/>
                </a:solidFill>
              </a:rPr>
              <a:t>Reason for selection</a:t>
            </a:r>
            <a:endParaRPr lang="en-US" sz="1900" u="sng">
              <a:solidFill>
                <a:srgbClr val="000000"/>
              </a:solidFill>
            </a:endParaRPr>
          </a:p>
          <a:p>
            <a:pPr marL="342900" indent="-342900" algn="ctr">
              <a:buFont typeface="Arial"/>
              <a:buChar char="•"/>
            </a:pPr>
            <a:r>
              <a:rPr lang="en-US" sz="2200" b="1">
                <a:solidFill>
                  <a:srgbClr val="334155"/>
                </a:solidFill>
              </a:rPr>
              <a:t>Highest F1-score (0.8171)</a:t>
            </a:r>
            <a:endParaRPr lang="en-US" sz="2200"/>
          </a:p>
          <a:p>
            <a:pPr marL="342900" indent="-342900" algn="ctr">
              <a:buFont typeface="Arial"/>
              <a:buChar char="•"/>
            </a:pPr>
            <a:r>
              <a:rPr lang="en-US" sz="2200" b="1">
                <a:solidFill>
                  <a:srgbClr val="334155"/>
                </a:solidFill>
              </a:rPr>
              <a:t>Extremely high precision (0.9710)</a:t>
            </a:r>
            <a:endParaRPr lang="en-US" sz="2200"/>
          </a:p>
          <a:p>
            <a:pPr marL="342900" indent="-342900" algn="ctr">
              <a:buFont typeface="Arial"/>
              <a:buChar char="•"/>
            </a:pPr>
            <a:r>
              <a:rPr lang="en-US" sz="2200" b="1">
                <a:solidFill>
                  <a:srgbClr val="334155"/>
                </a:solidFill>
              </a:rPr>
              <a:t>Still detects most fraud cases</a:t>
            </a:r>
            <a:endParaRPr lang="en-US" sz="22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7223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411480" y="6510528"/>
            <a:ext cx="3840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</a:rPr>
              <a:t>DATA 3421 Final Project • Group 19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11338560" y="6492240"/>
            <a:ext cx="365760" cy="1645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endParaRPr lang="en-US" sz="1000">
              <a:solidFill>
                <a:srgbClr val="64748B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11898" y="1002291"/>
            <a:ext cx="1060704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2100">
                <a:solidFill>
                  <a:srgbClr val="334155"/>
                </a:solidFill>
                <a:latin typeface="Aptos"/>
                <a:ea typeface="Aptos" pitchFamily="34" charset="-122"/>
                <a:cs typeface="Aptos" pitchFamily="34" charset="-120"/>
              </a:rPr>
              <a:t>Kaggle. “Credit Card Fraud Detection” dataset by MLG-ULB. Used for all analysis and plots in this presentation.</a:t>
            </a:r>
            <a:endParaRPr lang="en-US" sz="2100">
              <a:solidFill>
                <a:srgbClr val="334155"/>
              </a:solidFill>
              <a:latin typeface="Aptos"/>
            </a:endParaRPr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endParaRPr lang="en-US" sz="2100">
              <a:solidFill>
                <a:srgbClr val="334155"/>
              </a:solidFill>
              <a:latin typeface="Aptos" pitchFamily="34" charset="-122"/>
              <a:ea typeface="Aptos" pitchFamily="34" charset="-122"/>
              <a:cs typeface="Aptos" pitchFamily="34" charset="-120"/>
            </a:endParaRPr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2100">
                <a:solidFill>
                  <a:srgbClr val="334155"/>
                </a:solidFill>
                <a:latin typeface="Aptos"/>
                <a:ea typeface="Aptos" pitchFamily="34" charset="-122"/>
                <a:cs typeface="Aptos" pitchFamily="34" charset="-120"/>
              </a:rPr>
              <a:t>scikit-learn documentation for Logistic Regression, Decision Tree, Random Forest, </a:t>
            </a:r>
            <a:r>
              <a:rPr lang="en-US" sz="2100" err="1">
                <a:solidFill>
                  <a:srgbClr val="334155"/>
                </a:solidFill>
                <a:latin typeface="Aptos"/>
                <a:ea typeface="Aptos" pitchFamily="34" charset="-122"/>
                <a:cs typeface="Aptos" pitchFamily="34" charset="-120"/>
              </a:rPr>
              <a:t>StandardScaler</a:t>
            </a:r>
            <a:r>
              <a:rPr lang="en-US" sz="2100">
                <a:solidFill>
                  <a:srgbClr val="334155"/>
                </a:solidFill>
                <a:latin typeface="Aptos"/>
                <a:ea typeface="Aptos" pitchFamily="34" charset="-122"/>
                <a:cs typeface="Aptos" pitchFamily="34" charset="-120"/>
              </a:rPr>
              <a:t>, and model evaluation metrics.</a:t>
            </a:r>
            <a:endParaRPr lang="en-US" sz="2100">
              <a:latin typeface="Apto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5486400"/>
            <a:ext cx="1060704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2600" b="1">
              <a:solidFill>
                <a:srgbClr val="2A9D8F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7F3A4A-68E9-0346-1EAC-0D858D6F1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Calibri Light"/>
                <a:cs typeface="Calibri Light"/>
              </a:rPr>
              <a:t>Any Question </a:t>
            </a: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04846F25-D9FA-6821-1F45-0C083C0191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313588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85432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21</Slides>
  <Notes>20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Any Question 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Fraud Detection</dc:title>
  <dc:subject>Credit Card Fraud Detection class presentation</dc:subject>
  <dc:creator>OpenAI</dc:creator>
  <cp:revision>107</cp:revision>
  <dcterms:created xsi:type="dcterms:W3CDTF">2026-04-18T03:06:42Z</dcterms:created>
  <dcterms:modified xsi:type="dcterms:W3CDTF">2026-04-24T00:00:20Z</dcterms:modified>
</cp:coreProperties>
</file>